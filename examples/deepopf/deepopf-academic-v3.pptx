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7655c667ab4a1f" /><Relationship Type="http://schemas.openxmlformats.org/officeDocument/2006/relationships/extended-properties" Target="/docProps/app.xml" Id="Rbb971a612daf4e4d" /><Relationship Type="http://schemas.openxmlformats.org/officeDocument/2006/relationships/officeDocument" Target="/ppt/presentation.xml" Id="Rde552b93d5f2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7e3657b3748a8"/>
  </p:sldMasterIdLst>
  <p:notesMasterIdLst>
    <p:notesMasterId xmlns:r="http://schemas.openxmlformats.org/officeDocument/2006/relationships" r:id="Raa1e25d524c946b3"/>
  </p:notesMasterIdLst>
  <p:sldIdLst>
    <p:sldId xmlns:r="http://schemas.openxmlformats.org/officeDocument/2006/relationships" id="256" r:id="R6b37833547d7446f"/>
    <p:sldId xmlns:r="http://schemas.openxmlformats.org/officeDocument/2006/relationships" id="257" r:id="R65e4350f8106437e"/>
    <p:sldId xmlns:r="http://schemas.openxmlformats.org/officeDocument/2006/relationships" id="258" r:id="R3272d07b89994645"/>
    <p:sldId xmlns:r="http://schemas.openxmlformats.org/officeDocument/2006/relationships" id="259" r:id="R808a7a4ba5c04d48"/>
    <p:sldId xmlns:r="http://schemas.openxmlformats.org/officeDocument/2006/relationships" id="260" r:id="Rd44fdf6cbd0749b8"/>
    <p:sldId xmlns:r="http://schemas.openxmlformats.org/officeDocument/2006/relationships" id="261" r:id="Rc35a66b5043743f8"/>
    <p:sldId xmlns:r="http://schemas.openxmlformats.org/officeDocument/2006/relationships" id="262" r:id="R6a89f709c3e841f8"/>
    <p:sldId xmlns:r="http://schemas.openxmlformats.org/officeDocument/2006/relationships" id="263" r:id="R6ade9be2c37a40aa"/>
    <p:sldId xmlns:r="http://schemas.openxmlformats.org/officeDocument/2006/relationships" id="264" r:id="Rfe165c2454724ed1"/>
    <p:sldId xmlns:r="http://schemas.openxmlformats.org/officeDocument/2006/relationships" id="265" r:id="R05e727b15b914ac9"/>
    <p:sldId xmlns:r="http://schemas.openxmlformats.org/officeDocument/2006/relationships" id="266" r:id="Rb709ee621e8447ff"/>
    <p:sldId xmlns:r="http://schemas.openxmlformats.org/officeDocument/2006/relationships" id="267" r:id="R5d00e3e65ee541a7"/>
    <p:sldId xmlns:r="http://schemas.openxmlformats.org/officeDocument/2006/relationships" id="268" r:id="R91190c76de394f52"/>
    <p:sldId xmlns:r="http://schemas.openxmlformats.org/officeDocument/2006/relationships" id="269" r:id="R67460616876f4294"/>
    <p:sldId xmlns:r="http://schemas.openxmlformats.org/officeDocument/2006/relationships" id="270" r:id="Rf8277a0edaf941ec"/>
    <p:sldId xmlns:r="http://schemas.openxmlformats.org/officeDocument/2006/relationships" id="271" r:id="R9be7bac57be94490"/>
    <p:sldId xmlns:r="http://schemas.openxmlformats.org/officeDocument/2006/relationships" id="272" r:id="R91984a4ce4414f35"/>
    <p:sldId xmlns:r="http://schemas.openxmlformats.org/officeDocument/2006/relationships" id="273" r:id="R5f432e3bca634801"/>
    <p:sldId xmlns:r="http://schemas.openxmlformats.org/officeDocument/2006/relationships" id="274" r:id="Rf3f3df8aa6f34f61"/>
    <p:sldId xmlns:r="http://schemas.openxmlformats.org/officeDocument/2006/relationships" id="275" r:id="Rdc825352a7ff404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f95fa199534f08" /><Relationship Type="http://schemas.openxmlformats.org/officeDocument/2006/relationships/slideMaster" Target="/ppt/slideMasters/slideMaster1.xml" Id="Rfa57e3657b3748a8" /><Relationship Type="http://schemas.openxmlformats.org/officeDocument/2006/relationships/notesMaster" Target="/ppt/notesMasters/notesMaster1.xml" Id="Raa1e25d524c946b3" /><Relationship Type="http://schemas.openxmlformats.org/officeDocument/2006/relationships/presProps" Target="/ppt/presProps.xml" Id="Rfa82dc4b57fa4418" /><Relationship Type="http://schemas.openxmlformats.org/officeDocument/2006/relationships/tableStyles" Target="/ppt/tableStyles.xml" Id="R26478f394f0d4100" /><Relationship Type="http://schemas.openxmlformats.org/officeDocument/2006/relationships/slide" Target="/ppt/slides/slide1.xml" Id="R6b37833547d7446f" /><Relationship Type="http://schemas.openxmlformats.org/officeDocument/2006/relationships/slide" Target="/ppt/slides/slide2.xml" Id="R65e4350f8106437e" /><Relationship Type="http://schemas.openxmlformats.org/officeDocument/2006/relationships/slide" Target="/ppt/slides/slide3.xml" Id="R3272d07b89994645" /><Relationship Type="http://schemas.openxmlformats.org/officeDocument/2006/relationships/slide" Target="/ppt/slides/slide4.xml" Id="R808a7a4ba5c04d48" /><Relationship Type="http://schemas.openxmlformats.org/officeDocument/2006/relationships/slide" Target="/ppt/slides/slide5.xml" Id="Rd44fdf6cbd0749b8" /><Relationship Type="http://schemas.openxmlformats.org/officeDocument/2006/relationships/slide" Target="/ppt/slides/slide6.xml" Id="Rc35a66b5043743f8" /><Relationship Type="http://schemas.openxmlformats.org/officeDocument/2006/relationships/slide" Target="/ppt/slides/slide7.xml" Id="R6a89f709c3e841f8" /><Relationship Type="http://schemas.openxmlformats.org/officeDocument/2006/relationships/slide" Target="/ppt/slides/slide8.xml" Id="R6ade9be2c37a40aa" /><Relationship Type="http://schemas.openxmlformats.org/officeDocument/2006/relationships/slide" Target="/ppt/slides/slide9.xml" Id="Rfe165c2454724ed1" /><Relationship Type="http://schemas.openxmlformats.org/officeDocument/2006/relationships/slide" Target="/ppt/slides/slide10.xml" Id="R05e727b15b914ac9" /><Relationship Type="http://schemas.openxmlformats.org/officeDocument/2006/relationships/slide" Target="/ppt/slides/slide11.xml" Id="Rb709ee621e8447ff" /><Relationship Type="http://schemas.openxmlformats.org/officeDocument/2006/relationships/slide" Target="/ppt/slides/slide12.xml" Id="R5d00e3e65ee541a7" /><Relationship Type="http://schemas.openxmlformats.org/officeDocument/2006/relationships/slide" Target="/ppt/slides/slide13.xml" Id="R91190c76de394f52" /><Relationship Type="http://schemas.openxmlformats.org/officeDocument/2006/relationships/slide" Target="/ppt/slides/slide14.xml" Id="R67460616876f4294" /><Relationship Type="http://schemas.openxmlformats.org/officeDocument/2006/relationships/slide" Target="/ppt/slides/slide15.xml" Id="Rf8277a0edaf941ec" /><Relationship Type="http://schemas.openxmlformats.org/officeDocument/2006/relationships/slide" Target="/ppt/slides/slide16.xml" Id="R9be7bac57be94490" /><Relationship Type="http://schemas.openxmlformats.org/officeDocument/2006/relationships/slide" Target="/ppt/slides/slide17.xml" Id="R91984a4ce4414f35" /><Relationship Type="http://schemas.openxmlformats.org/officeDocument/2006/relationships/slide" Target="/ppt/slides/slide18.xml" Id="R5f432e3bca634801" /><Relationship Type="http://schemas.openxmlformats.org/officeDocument/2006/relationships/slide" Target="/ppt/slides/slide19.xml" Id="Rf3f3df8aa6f34f61" /><Relationship Type="http://schemas.openxmlformats.org/officeDocument/2006/relationships/slide" Target="/ppt/slides/slide20.xml" Id="Rdc825352a7ff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aa162358d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53358f4134b7b" /><Relationship Type="http://schemas.openxmlformats.org/officeDocument/2006/relationships/notesMaster" Target="/ppt/notesMasters/notesMaster1.xml" Id="R2b1d3b7facd64d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4961865b841f8" /><Relationship Type="http://schemas.openxmlformats.org/officeDocument/2006/relationships/notesMaster" Target="/ppt/notesMasters/notesMaster1.xml" Id="R228e5d7b4261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29479d0ed4ae9" /><Relationship Type="http://schemas.openxmlformats.org/officeDocument/2006/relationships/notesMaster" Target="/ppt/notesMasters/notesMaster1.xml" Id="R9afce9b2e40d4d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9e901937b4900" /><Relationship Type="http://schemas.openxmlformats.org/officeDocument/2006/relationships/notesMaster" Target="/ppt/notesMasters/notesMaster1.xml" Id="R5f616e9e047143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0308adffb41d1" /><Relationship Type="http://schemas.openxmlformats.org/officeDocument/2006/relationships/notesMaster" Target="/ppt/notesMasters/notesMaster1.xml" Id="R14f2a72699f0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852e8cf61b4833" /><Relationship Type="http://schemas.openxmlformats.org/officeDocument/2006/relationships/notesMaster" Target="/ppt/notesMasters/notesMaster1.xml" Id="R662519e79d9946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7288d7ee324e6f" /><Relationship Type="http://schemas.openxmlformats.org/officeDocument/2006/relationships/notesMaster" Target="/ppt/notesMasters/notesMaster1.xml" Id="Re666b4e2992747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db05a492c4d04" /><Relationship Type="http://schemas.openxmlformats.org/officeDocument/2006/relationships/notesMaster" Target="/ppt/notesMasters/notesMaster1.xml" Id="R4432ca770d3f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725cf8b2a414c" /><Relationship Type="http://schemas.openxmlformats.org/officeDocument/2006/relationships/notesMaster" Target="/ppt/notesMasters/notesMaster1.xml" Id="R932e540ed44a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4fc320665f4f7d" /><Relationship Type="http://schemas.openxmlformats.org/officeDocument/2006/relationships/notesMaster" Target="/ppt/notesMasters/notesMaster1.xml" Id="R6f265b68db1049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1c53d36b464bf9" /><Relationship Type="http://schemas.openxmlformats.org/officeDocument/2006/relationships/notesMaster" Target="/ppt/notesMasters/notesMaster1.xml" Id="Rb0263dfb01ba4d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ddb4d74e3644e1" /><Relationship Type="http://schemas.openxmlformats.org/officeDocument/2006/relationships/notesMaster" Target="/ppt/notesMasters/notesMaster1.xml" Id="R41831c26176a44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d45693ae234496" /><Relationship Type="http://schemas.openxmlformats.org/officeDocument/2006/relationships/notesMaster" Target="/ppt/notesMasters/notesMaster1.xml" Id="R836ff429147b47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a464badb94714" /><Relationship Type="http://schemas.openxmlformats.org/officeDocument/2006/relationships/notesMaster" Target="/ppt/notesMasters/notesMaster1.xml" Id="R5d30387760b342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972e34abbc46f1" /><Relationship Type="http://schemas.openxmlformats.org/officeDocument/2006/relationships/notesMaster" Target="/ppt/notesMasters/notesMaster1.xml" Id="R9d3855f94fed4d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57b56928764acc" /><Relationship Type="http://schemas.openxmlformats.org/officeDocument/2006/relationships/notesMaster" Target="/ppt/notesMasters/notesMaster1.xml" Id="R7ca94e948abf4b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ad876d411d42f3" /><Relationship Type="http://schemas.openxmlformats.org/officeDocument/2006/relationships/notesMaster" Target="/ppt/notesMasters/notesMaster1.xml" Id="Rc6f170d5eba048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ee2d9640414399" /><Relationship Type="http://schemas.openxmlformats.org/officeDocument/2006/relationships/notesMaster" Target="/ppt/notesMasters/notesMaster1.xml" Id="Ra4366c19e27c47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bdb637f90d42e2" /><Relationship Type="http://schemas.openxmlformats.org/officeDocument/2006/relationships/notesMaster" Target="/ppt/notesMasters/notesMaster1.xml" Id="Rad7aa143e11b47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940802bdd94ae4" /><Relationship Type="http://schemas.openxmlformats.org/officeDocument/2006/relationships/notesMaster" Target="/ppt/notesMasters/notesMaster1.xml" Id="Rafde2ca2b771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本报告从运行问题开始，解释学习与物理重构如何结合，再检查实验口径及适用边界。封面网络仅用于说明电源与母线的物理连接。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2022-07-01；位置：标题、§III–IV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中心对象是给定负荷下的运行决策。两侧分别提供数据基础与物理限制，上下是评价维度。连线表示支撑关系，不表示电网中真实功率流向。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2022-07-01；位置：§I、§III、§VI-A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网络节点只表示电源、母线与支路关系，不对应特定IEEE拓扑。右侧分开等式和不等式条件，再在底部给输入、优化和输出。最优潮流属于稳态运行优化，不能由此替代暂态稳定或安全校核。</a:t>
            </a:r>
          </a:p>
          <a:p xmlns:a="http://schemas.openxmlformats.org/drawingml/2006/main">
            <a:r>
              <a:t>出处：MATPOWER User Manual</a:t>
            </a:r>
          </a:p>
          <a:p xmlns:a="http://schemas.openxmlformats.org/drawingml/2006/main">
            <a:r>
              <a:t>https://matpower.org/docs/MATPOWER-manual.pdf</a:t>
            </a:r>
          </a:p>
          <a:p xmlns:a="http://schemas.openxmlformats.org/drawingml/2006/main">
            <a:r>
              <a:t>版本：online manual inspected 2026-10-10；位置：§4 Power Flow、§6 Optimal Power Flow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P表示有功，Q表示无功，V表示电压幅值，θ表示相角，G与B是节点导纳矩阵实部与虚部。本页以标准节点导纳表达写功率平衡，强调等式约束与运行不等式分别需要处理。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2022-07-01；位置：§III、式(1)–(7)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输入与参考解必须对应同一场景。图中神经元数只是结构示意，实际算例隐藏层规模见实验设计页。预测部分变量，再由物理重构其余量。一个算例的映射不等于任意电网的通用模型；拓扑或约束改变需重新评估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2022-07-01；位置：§IV-A、§IV-D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三条链表示学习模块的位置。热启动仍需优化求解器完成原问题。DeepOPF采用预测与物理重构，同时仍需不等式检查及必要恢复，因此速度必须按整条在线流程计时。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2022-07-01；位置：§II、§VI-A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左侧离线数据与训练、中心四个计算角色、右侧在线验证、底部主计算流程阅读。图的内容是原文方法的原创概念组织，不是训练结果。预测的是PV母线P_G与电压幅值以及平衡母线电压幅值；负荷和参考角作为已知输入或设定。其余量由AC潮流重构，不等式仍需检查与必要恢复。图片内对象整体编辑，页面标题、图注与其他数据页仍为原生对象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2022-07-01；位置：Fig.1、§IV-B–G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G为PV母线集合。本页把独立量进一步分为已知设定与网络预测，避免把PQ负荷当作预测目标。Table II列θ0为独立量，§IV-C文字与§IV-D输出维度对其预测身份有表述差异；本页依§IV-D列出输出，并保留需核对参考角实现的说明。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2022-07-01；位置：Table II、§IV-C–D，PDF p.4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识别已知负荷与参考角，再读网络输出的独立变量。Sigmoid缩放因子通过边界映射形成实际预测量。AC潮流求解重构PQ电压、相角和其余发电量。等式重构不能自动处理所有运行不等式，Newton收敛情况仍需检查。参考角在原表与实现节有表述差异，具体实现复现时需要核对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2022-07-01；位置：Table II、§IV-C–D、式(8)，PDF p.4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前向路径中，参考输出提供预测损失；经过AC潮流重构的越限形成惩罚。惩罚通过求解间接依赖网络输出，用正负两次扰动的差估计梯度。没有添加原文未用的潮流残差损失，也没有伪造训练曲线。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2022-07-01；位置：§IV-E–F，式(12)–(17)，PDF p.5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列出实际需要检查的量。候选解满足全部约束后才可接受；存在越限则恢复并回到检查节点。原文恢复后100%只表示所测样本，不是所有新工况的普遍保证。支路视在功率通常为上限约束，图中范围形式是检查符号的统一概括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2022-07-01；位置：§IV-G、§VI-A，Tables IV–V注释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 10,000 / 测试 2,500。每个算例每类数据12,500条，80/20划分、200epochs与batch32来自原文；两个子集数量由比例计算。两类负荷分别是默认需求上下10%的均匀采样和变化最高40%的相关净负荷形状映射。示意曲线不是实测记录；四种方法在共同条件下比较。2000母线属于合成系统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2022-07-01；位置：§VI-A，Table III，PDF pp.7–8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先读网络规模与模型配置，再讲基线。PV与PQ统计不含平衡母线，因此30母线算例5+24+1=30。原文将2000母线系统称为synthetic，不能把它命名成IEEE标准2000母线。硬件、数据与恢复计时条件会影响速度比较。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2022-07-01；位置：Table III、§VI-A，PDF p.7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算例对2500测试实例统计。可行率要求一个实例的所有约束都满足；平均越限程度小不等于实例可行。原文加速比是逐样本时间比的平均，并明确包含恢复过程，不用平均求解时间相除替代。成本差异以原表口径报告，不虚构置信区间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2022-07-01；位置：§VI-A，PDF pp.7–8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均匀采样负荷四个算例加速比依次为24、22、20、123；相关负荷曲线为13、12、33、70。数值分别来自Tables IV与V，并列不等于统计显著性检验。不能将最高123倍推广到所有网络或硬件。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2022-07-01；位置：Tables IV–V，PDF p.8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IV恢复前DNN-E为42、22、21、29%，DeepOPF为100、100、99、99%。原表脚注指出恢复后均为100%。这个后处理结果是测试报告，不证明模型在任意未见工况都可行。DNN-W的恢复前可行率为100%，本图为突出惩罚效果只展示两种方法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2022-07-01；位置：Table IV与注释，PDF p.8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本页保留Table VI的不等式符号，不用0.1代替未知准确值。权重变化在这个算例中影响成本差异；结果不支持w2=0.1对任意网络总是最佳。原文把系统选择权重作为后续方向。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2022-07-01；位置：§VI-C、Table VI，PDF pp.8–9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arXiv网页摘要与v6 PDF摘要成本阈值不同。使用Table IV和Table V的具体工况结果，保留差异，不能为了统一标题选更好数字。拓扑变化与分布外输入是本报告提出的应用验证问题，不声称原文已经覆盖。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2022-07-01；位置：PDF摘要p.1；Tables IV–V p.8；§VII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创研究建议。围绕数据质量与工况覆盖形成待验证方案，数据侧关注划分、噪声、分布变化与版本，电力侧关注限值、拓扑、失败和越限类型。相同场景中运行基线与学习方法，保存逐实例成本、可行性和总耗时。分布外输入或越限转交可靠求解流程后仍需检查。本图没有已经完成的实验或上线效果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2022-07-01；位置：§VII（研究建议由本报告提出）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以方法、证据和边界收束。本文主要结果来自DeepOPF AC-OPF v6；DeepOPF+与DeepOPF-V只用于介绍不同方法路径，不跨模型比较其速度数字。报告没有训练、运行原文实验或证明实际电网部署效果。完整书目与实际所用版本见备注。</a:t>
            </a:r>
          </a:p>
          <a:p xmlns:a="http://schemas.openxmlformats.org/drawingml/2006/main">
            <a:r>
              <a:t>出处：Pan et al. DeepOPF: A Feasibility-Optimized Deep Neural Network Approach for AC Optimal Power Flow Problems</a:t>
            </a:r>
          </a:p>
          <a:p xmlns:a="http://schemas.openxmlformats.org/drawingml/2006/main">
            <a:r>
              <a:t>https://arxiv.org/abs/2007.01002v6</a:t>
            </a:r>
          </a:p>
          <a:p xmlns:a="http://schemas.openxmlformats.org/drawingml/2006/main">
            <a:r>
              <a:t>版本：arXiv v6, 2022-07-01；位置：§IV、Tables IV–VI、§VII</a:t>
            </a:r>
          </a:p>
          <a:p xmlns:a="http://schemas.openxmlformats.org/drawingml/2006/main">
            <a:r>
              <a:t>本报告为文献分析，未训练模型、未运行电网实验或部署。</a:t>
            </a:r>
          </a:p>
          <a:p xmlns:a="http://schemas.openxmlformats.org/drawingml/2006/main">
            <a:r>
              <a:t>补充来源：https://arxiv.org/abs/2009.03147；downloaded 2026-10-10; PDF 7 pages；Abstract、§III。</a:t>
            </a:r>
          </a:p>
          <a:p xmlns:a="http://schemas.openxmlformats.org/drawingml/2006/main">
            <a:r>
              <a:t>https://arxiv.org/abs/2103.11793；downloaded 2026-10-10; PDF 4 pages；Abstract、§II。</a:t>
            </a:r>
          </a:p>
          <a:p xmlns:a="http://schemas.openxmlformats.org/drawingml/2006/main">
            <a:r>
              <a:t>https://matpower.org/docs/MATPOWER-manual.pdf；§4、§6。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9613ef6f942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ddf94cd894d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965c832404f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916c13aab41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6c1491f1a4e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297995661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AAF03F-DA17-40C2-BD12-853A2F02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849237-987E-415C-9984-5E4DCDA2B6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85E16D-C7A2-46A5-8F4A-EFDE03633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077759-DACC-4F59-AB03-BF1146DBF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E327EE-D131-4210-8A85-D59CB3DAB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9ED74B-3824-436F-836A-87D33FBAF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A479A3-BC4E-4612-B2E5-513BDA4DE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BECD75-2261-4101-A850-52EF57274A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A68948-EFEF-4665-85B1-4FE3ECD85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518F10-3481-4438-8605-C9FD5A7C3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1b51843174d0f" /><Relationship Type="http://schemas.openxmlformats.org/officeDocument/2006/relationships/slideLayout" Target="/ppt/slideLayouts/slideLayout1.xml" Id="Rfc151a51779f42ac" /><Relationship Type="http://schemas.openxmlformats.org/officeDocument/2006/relationships/slideLayout" Target="/ppt/slideLayouts/slideLayout2.xml" Id="R2117fa0d488546e9" /><Relationship Type="http://schemas.openxmlformats.org/officeDocument/2006/relationships/slideLayout" Target="/ppt/slideLayouts/slideLayout3.xml" Id="R94304b36d42146a5" /><Relationship Type="http://schemas.openxmlformats.org/officeDocument/2006/relationships/slideLayout" Target="/ppt/slideLayouts/slideLayout4.xml" Id="R08e3d9a696c4444f" /><Relationship Type="http://schemas.openxmlformats.org/officeDocument/2006/relationships/slideLayout" Target="/ppt/slideLayouts/slideLayout5.xml" Id="R9221a1a289fd4d51" /><Relationship Type="http://schemas.openxmlformats.org/officeDocument/2006/relationships/slideLayout" Target="/ppt/slideLayouts/slideLayout6.xml" Id="Rb80189f97a81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151a51779f42ac"/>
    <p:sldLayoutId xmlns:r="http://schemas.openxmlformats.org/officeDocument/2006/relationships" id="2147483650" r:id="R2117fa0d488546e9"/>
    <p:sldLayoutId xmlns:r="http://schemas.openxmlformats.org/officeDocument/2006/relationships" id="2147483651" r:id="R94304b36d42146a5"/>
    <p:sldLayoutId xmlns:r="http://schemas.openxmlformats.org/officeDocument/2006/relationships" id="2147483652" r:id="R08e3d9a696c4444f"/>
    <p:sldLayoutId xmlns:r="http://schemas.openxmlformats.org/officeDocument/2006/relationships" id="2147483653" r:id="R9221a1a289fd4d51"/>
    <p:sldLayoutId xmlns:r="http://schemas.openxmlformats.org/officeDocument/2006/relationships" id="2147483654" r:id="Rb80189f97a81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9924b9ef549d5" /><Relationship Type="http://schemas.openxmlformats.org/officeDocument/2006/relationships/notesSlide" Target="/ppt/notesSlides/notesSlide1.xml" Id="R8bd629e9dd07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02b5a29544c7c" /><Relationship Type="http://schemas.openxmlformats.org/officeDocument/2006/relationships/notesSlide" Target="/ppt/notesSlides/notesSlide2.xml" Id="R4b3d3eef9922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964e475834770" /><Relationship Type="http://schemas.openxmlformats.org/officeDocument/2006/relationships/notesSlide" Target="/ppt/notesSlides/notesSlide3.xml" Id="R2708df92261d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8cb706e5f4571" /><Relationship Type="http://schemas.openxmlformats.org/officeDocument/2006/relationships/notesSlide" Target="/ppt/notesSlides/notesSlide4.xml" Id="R2dffd577d5694a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aafa938154d8f" /><Relationship Type="http://schemas.openxmlformats.org/officeDocument/2006/relationships/notesSlide" Target="/ppt/notesSlides/notesSlide5.xml" Id="R4834f69615044f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4528b376742b5" /><Relationship Type="http://schemas.openxmlformats.org/officeDocument/2006/relationships/notesSlide" Target="/ppt/notesSlides/notesSlide6.xml" Id="R7ddbaa05e36e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0de5bce7b4c4b" /><Relationship Type="http://schemas.openxmlformats.org/officeDocument/2006/relationships/image" Target="/ppt/media/image.png" Id="Rd054c876377e4836" /><Relationship Type="http://schemas.openxmlformats.org/officeDocument/2006/relationships/notesSlide" Target="/ppt/notesSlides/notesSlide7.xml" Id="R60e5d5a72892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67f5d322a41a2" /><Relationship Type="http://schemas.openxmlformats.org/officeDocument/2006/relationships/notesSlide" Target="/ppt/notesSlides/notesSlide8.xml" Id="Rab10394cc5d64d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f7baa1d944cea" /><Relationship Type="http://schemas.openxmlformats.org/officeDocument/2006/relationships/image" Target="/ppt/media/image2.png" Id="R66e49e9f668f473b" /><Relationship Type="http://schemas.openxmlformats.org/officeDocument/2006/relationships/notesSlide" Target="/ppt/notesSlides/notesSlide9.xml" Id="R377920954751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c56bacb5442fd" /><Relationship Type="http://schemas.openxmlformats.org/officeDocument/2006/relationships/notesSlide" Target="/ppt/notesSlides/notesSlide10.xml" Id="Re07a43ed019042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2a1e0c0024f0b" /><Relationship Type="http://schemas.openxmlformats.org/officeDocument/2006/relationships/notesSlide" Target="/ppt/notesSlides/notesSlide11.xml" Id="Rca14dbf92f3e47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a0d84cff54677" /><Relationship Type="http://schemas.openxmlformats.org/officeDocument/2006/relationships/image" Target="/ppt/media/image3.png" Id="Rd93985f4ea424b45" /><Relationship Type="http://schemas.openxmlformats.org/officeDocument/2006/relationships/notesSlide" Target="/ppt/notesSlides/notesSlide12.xml" Id="R853063bfcc9147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914b7a3ed4f3f" /><Relationship Type="http://schemas.openxmlformats.org/officeDocument/2006/relationships/notesSlide" Target="/ppt/notesSlides/notesSlide13.xml" Id="R6c1b45a830e347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71aa639e34755" /><Relationship Type="http://schemas.openxmlformats.org/officeDocument/2006/relationships/notesSlide" Target="/ppt/notesSlides/notesSlide14.xml" Id="R6d98756199b049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ac69d1e164791" /><Relationship Type="http://schemas.openxmlformats.org/officeDocument/2006/relationships/chart" Target="/ppt/slides/charts/chart1.xml" Id="R403e1aa2adf74b8e" /><Relationship Type="http://schemas.openxmlformats.org/officeDocument/2006/relationships/notesSlide" Target="/ppt/notesSlides/notesSlide15.xml" Id="R086c7a57fc3846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51df46aae4f2d" /><Relationship Type="http://schemas.openxmlformats.org/officeDocument/2006/relationships/chart" Target="/ppt/slides/charts/chart2.xml" Id="Ra711358225294ff4" /><Relationship Type="http://schemas.openxmlformats.org/officeDocument/2006/relationships/notesSlide" Target="/ppt/notesSlides/notesSlide16.xml" Id="Rf29c15f22bed49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bc8a87f4b4024" /><Relationship Type="http://schemas.openxmlformats.org/officeDocument/2006/relationships/notesSlide" Target="/ppt/notesSlides/notesSlide17.xml" Id="Rd1a4eb43aaf94e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af50984fd4267" /><Relationship Type="http://schemas.openxmlformats.org/officeDocument/2006/relationships/notesSlide" Target="/ppt/notesSlides/notesSlide18.xml" Id="Ra85bcbd9e31142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72e2a7a2f4a51" /><Relationship Type="http://schemas.openxmlformats.org/officeDocument/2006/relationships/image" Target="/ppt/media/image4.png" Id="R9fc0dbcb81ba4bf0" /><Relationship Type="http://schemas.openxmlformats.org/officeDocument/2006/relationships/notesSlide" Target="/ppt/notesSlides/notesSlide19.xml" Id="R12b27a23406d4f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c789cf11e4192" /><Relationship Type="http://schemas.openxmlformats.org/officeDocument/2006/relationships/notesSlide" Target="/ppt/notesSlides/notesSlide20.xml" Id="Rf99958e5890e41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平均加速比（倍）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 b="1">
              <a:solidFill>
                <a:srgbClr val="2437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均匀采样负荷</c:v>
          </c:tx>
          <c:spPr>
            <a:solidFill xmlns:a="http://schemas.openxmlformats.org/drawingml/2006/main">
              <a:srgbClr val="236EAA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30</c:v>
                </c:pt>
                <c:pt idx="1">
                  <c:v>118</c:v>
                </c:pt>
                <c:pt idx="2">
                  <c:v>300</c:v>
                </c:pt>
                <c:pt idx="3">
                  <c:v>2000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24</c:v>
                </c:pt>
                <c:pt idx="1">
                  <c:v>22</c:v>
                </c:pt>
                <c:pt idx="2">
                  <c:v>20</c:v>
                </c:pt>
                <c:pt idx="3">
                  <c:v>123</c:v>
                </c:pt>
              </c:numCache>
            </c:numRef>
          </c:val>
        </c:ser>
        <c:ser>
          <c:idx val="1"/>
          <c:order val="1"/>
          <c:tx>
            <c:v>相关负荷曲线</c:v>
          </c:tx>
          <c:spPr>
            <a:solidFill xmlns:a="http://schemas.openxmlformats.org/drawingml/2006/main">
              <a:srgbClr val="3E927B"/>
            </a:solidFill>
          </c:spPr>
          <c:cat>
            <c:numRef>
              <c:f>'Chart Data'!$C$2:$C$5</c:f>
              <c:numCache>
                <c:formatCode>General</c:formatCode>
                <c:ptCount val="4"/>
                <c:pt idx="0">
                  <c:v>30</c:v>
                </c:pt>
                <c:pt idx="1">
                  <c:v>118</c:v>
                </c:pt>
                <c:pt idx="2">
                  <c:v>300</c:v>
                </c:pt>
                <c:pt idx="3">
                  <c:v>2000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13</c:v>
                </c:pt>
                <c:pt idx="1">
                  <c:v>12</c:v>
                </c:pt>
                <c:pt idx="2">
                  <c:v>33</c:v>
                </c:pt>
                <c:pt idx="3">
                  <c:v>70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4374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5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D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374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恢复前可行率（%）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 b="1">
              <a:solidFill>
                <a:srgbClr val="2437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DNN-E，无惩罚</c:v>
          </c:tx>
          <c:spPr>
            <a:solidFill xmlns:a="http://schemas.openxmlformats.org/drawingml/2006/main">
              <a:srgbClr val="236EAA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30</c:v>
                </c:pt>
                <c:pt idx="1">
                  <c:v>118</c:v>
                </c:pt>
                <c:pt idx="2">
                  <c:v>300</c:v>
                </c:pt>
                <c:pt idx="3">
                  <c:v>2000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42</c:v>
                </c:pt>
                <c:pt idx="1">
                  <c:v>22</c:v>
                </c:pt>
                <c:pt idx="2">
                  <c:v>21</c:v>
                </c:pt>
                <c:pt idx="3">
                  <c:v>29</c:v>
                </c:pt>
              </c:numCache>
            </c:numRef>
          </c:val>
        </c:ser>
        <c:ser>
          <c:idx val="1"/>
          <c:order val="1"/>
          <c:tx>
            <c:v>DeepOPF</c:v>
          </c:tx>
          <c:spPr>
            <a:solidFill xmlns:a="http://schemas.openxmlformats.org/drawingml/2006/main">
              <a:srgbClr val="3E927B"/>
            </a:solidFill>
          </c:spPr>
          <c:cat>
            <c:numRef>
              <c:f>'Chart Data'!$C$2:$C$5</c:f>
              <c:numCache>
                <c:formatCode>General</c:formatCode>
                <c:ptCount val="4"/>
                <c:pt idx="0">
                  <c:v>30</c:v>
                </c:pt>
                <c:pt idx="1">
                  <c:v>118</c:v>
                </c:pt>
                <c:pt idx="2">
                  <c:v>300</c:v>
                </c:pt>
                <c:pt idx="3">
                  <c:v>2000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99</c:v>
                </c:pt>
                <c:pt idx="3">
                  <c:v>99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4374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5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D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374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57048-BC65-4413-A7CD-FF52987E8CDB}"/>
              </a:ext>
            </a:extLst>
          </p:cNvPr>
          <p:cNvCxnSpPr>
            <a:stCxn xmlns:a="http://schemas.openxmlformats.org/drawingml/2006/main" id="12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3549313" y="4191000"/>
            <a:ext cx="19050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20EBA-6C02-40B2-8343-9A945843170B}"/>
              </a:ext>
            </a:extLst>
          </p:cNvPr>
          <p:cNvCxnSpPr>
            <a:stCxn xmlns:a="http://schemas.openxmlformats.org/drawingml/2006/main" id="14" idx="5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331285" y="5732334"/>
            <a:ext cx="1054930" cy="72733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3A161-65EC-4D74-B0AF-60E897142953}"/>
              </a:ext>
            </a:extLst>
          </p:cNvPr>
          <p:cNvCxnSpPr>
            <a:stCxn xmlns:a="http://schemas.openxmlformats.org/drawingml/2006/main" id="11" idx="4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1596688" y="3162300"/>
            <a:ext cx="38100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26371-EE0D-403F-A107-DB683A72664D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V="1">
            <a:off x="10553700" y="5732334"/>
            <a:ext cx="1070390" cy="4112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857DD-35A8-4087-AF80-3FE69501EF97}"/>
              </a:ext>
            </a:extLst>
          </p:cNvPr>
          <p:cNvCxnSpPr>
            <a:stCxn xmlns:a="http://schemas.openxmlformats.org/drawingml/2006/main" id="10" idx="4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739313" y="4095750"/>
            <a:ext cx="314325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A1519-4B49-4ED9-8D6C-92CA2F93E55F}"/>
              </a:ext>
            </a:extLst>
          </p:cNvPr>
          <p:cNvCxnSpPr>
            <a:stCxn xmlns:a="http://schemas.openxmlformats.org/drawingml/2006/main" id="11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950285" y="3036759"/>
            <a:ext cx="1245430" cy="42253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4BC67-232E-456C-BBF1-5BA003660018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V="1">
            <a:off x="10239375" y="3036759"/>
            <a:ext cx="1003715" cy="6303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</a:ln>
        </p:spPr>
      </p:cxnSp>
      <p:sp>
        <p:nvSpPr>
          <p:cNvPr id="24" name="cover.node-1">
            <a:extLst xmlns:a="http://schemas.openxmlformats.org/drawingml/2006/main">
              <a:ext uri="{FF2B5EF4-FFF2-40B4-BE49-F238E27FC236}">
                <a16:creationId xmlns:a16="http://schemas.microsoft.com/office/drawing/2014/main" id="{4A65D68B-FAC2-487D-9444-B4069C7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cover.title">
            <a:extLst xmlns:a="http://schemas.openxmlformats.org/drawingml/2006/main">
              <a:ext uri="{FF2B5EF4-FFF2-40B4-BE49-F238E27FC236}">
                <a16:creationId xmlns:a16="http://schemas.microsoft.com/office/drawing/2014/main" id="{4D06D4A8-2D7C-4B15-B05B-1D81015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数据驱动的电力系统最优潮流</a:t>
            </a:r>
          </a:p>
        </p:txBody>
      </p:sp>
      <p:sp>
        <p:nvSpPr>
          <p:cNvPr id="3" name="cover.text-2">
            <a:extLst xmlns:a="http://schemas.openxmlformats.org/drawingml/2006/main">
              <a:ext uri="{FF2B5EF4-FFF2-40B4-BE49-F238E27FC236}">
                <a16:creationId xmlns:a16="http://schemas.microsoft.com/office/drawing/2014/main" id="{E3588E3F-1EE7-4FE1-9968-B97A02BA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DeepOPF的方法、实验依据与应用边界</a:t>
            </a:r>
          </a:p>
        </p:txBody>
      </p:sp>
      <p:sp>
        <p:nvSpPr>
          <p:cNvPr id="4" name="cover.text-3">
            <a:extLst xmlns:a="http://schemas.openxmlformats.org/drawingml/2006/main">
              <a:ext uri="{FF2B5EF4-FFF2-40B4-BE49-F238E27FC236}">
                <a16:creationId xmlns:a16="http://schemas.microsoft.com/office/drawing/2014/main" id="{60196798-16B4-4152-B089-C42808E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文献专题</a:t>
            </a:r>
          </a:p>
        </p:txBody>
      </p:sp>
      <p:sp>
        <p:nvSpPr>
          <p:cNvPr id="5" name="cover.text-4">
            <a:extLst xmlns:a="http://schemas.openxmlformats.org/drawingml/2006/main">
              <a:ext uri="{FF2B5EF4-FFF2-40B4-BE49-F238E27FC236}">
                <a16:creationId xmlns:a16="http://schemas.microsoft.com/office/drawing/2014/main" id="{5D939909-712F-441E-9FFF-2BBC6F2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公开论文专题汇报 · 原文结果分析</a:t>
            </a:r>
          </a:p>
        </p:txBody>
      </p:sp>
      <p:sp>
        <p:nvSpPr>
          <p:cNvPr id="6" name="cover.text-5">
            <a:extLst xmlns:a="http://schemas.openxmlformats.org/drawingml/2006/main">
              <a:ext uri="{FF2B5EF4-FFF2-40B4-BE49-F238E27FC236}">
                <a16:creationId xmlns:a16="http://schemas.microsoft.com/office/drawing/2014/main" id="{20947C27-B8F1-4B42-8B70-F8F08A6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ver.text-6">
            <a:extLst xmlns:a="http://schemas.openxmlformats.org/drawingml/2006/main">
              <a:ext uri="{FF2B5EF4-FFF2-40B4-BE49-F238E27FC236}">
                <a16:creationId xmlns:a16="http://schemas.microsoft.com/office/drawing/2014/main" id="{D3F61E13-086E-4643-A011-C566FDEE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学习负荷与运行决策的映射</a:t>
            </a:r>
          </a:p>
        </p:txBody>
      </p:sp>
      <p:sp>
        <p:nvSpPr>
          <p:cNvPr id="8" name="cover.text-7">
            <a:extLst xmlns:a="http://schemas.openxmlformats.org/drawingml/2006/main">
              <a:ext uri="{FF2B5EF4-FFF2-40B4-BE49-F238E27FC236}">
                <a16:creationId xmlns:a16="http://schemas.microsoft.com/office/drawing/2014/main" id="{B8408E67-6E6D-451B-BA43-E8E45A3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以物理约束连接数据科学与电力优化</a:t>
            </a:r>
          </a:p>
        </p:txBody>
      </p:sp>
      <p:sp>
        <p:nvSpPr>
          <p:cNvPr id="9" name="cover.text-8">
            <a:extLst xmlns:a="http://schemas.openxmlformats.org/drawingml/2006/main">
              <a:ext uri="{FF2B5EF4-FFF2-40B4-BE49-F238E27FC236}">
                <a16:creationId xmlns:a16="http://schemas.microsoft.com/office/drawing/2014/main" id="{F3A85EC9-3936-48E3-8FA6-06D02D4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719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主线论文  Pan, Chen, Zhao &amp; Low</a:t>
            </a:r>
          </a:p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arXiv:2007.01002v6，2022</a:t>
            </a:r>
          </a:p>
        </p:txBody>
      </p:sp>
      <p:sp>
        <p:nvSpPr>
          <p:cNvPr id="10" name="cover.node-9">
            <a:extLst xmlns:a="http://schemas.openxmlformats.org/drawingml/2006/main">
              <a:ext uri="{FF2B5EF4-FFF2-40B4-BE49-F238E27FC236}">
                <a16:creationId xmlns:a16="http://schemas.microsoft.com/office/drawing/2014/main" id="{4C3DCD44-D770-4E4C-8D3C-27225B5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电源</a:t>
            </a:r>
          </a:p>
        </p:txBody>
      </p:sp>
      <p:sp>
        <p:nvSpPr>
          <p:cNvPr id="11" name="cover.node-10">
            <a:extLst xmlns:a="http://schemas.openxmlformats.org/drawingml/2006/main">
              <a:ext uri="{FF2B5EF4-FFF2-40B4-BE49-F238E27FC236}">
                <a16:creationId xmlns:a16="http://schemas.microsoft.com/office/drawing/2014/main" id="{206D05B9-8C3D-41B5-B592-0C13ADB2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305050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电源</a:t>
            </a:r>
          </a:p>
        </p:txBody>
      </p:sp>
      <p:sp>
        <p:nvSpPr>
          <p:cNvPr id="12" name="cover.node-11">
            <a:extLst xmlns:a="http://schemas.openxmlformats.org/drawingml/2006/main">
              <a:ext uri="{FF2B5EF4-FFF2-40B4-BE49-F238E27FC236}">
                <a16:creationId xmlns:a16="http://schemas.microsoft.com/office/drawing/2014/main" id="{E0124D49-D4E3-4998-800D-538CB32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333750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母线</a:t>
            </a:r>
          </a:p>
        </p:txBody>
      </p:sp>
      <p:sp>
        <p:nvSpPr>
          <p:cNvPr id="13" name="cover.node-12">
            <a:extLst xmlns:a="http://schemas.openxmlformats.org/drawingml/2006/main">
              <a:ext uri="{FF2B5EF4-FFF2-40B4-BE49-F238E27FC236}">
                <a16:creationId xmlns:a16="http://schemas.microsoft.com/office/drawing/2014/main" id="{593B536A-D197-4AB7-8096-0137423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715000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母线</a:t>
            </a:r>
          </a:p>
        </p:txBody>
      </p:sp>
      <p:sp>
        <p:nvSpPr>
          <p:cNvPr id="14" name="cover.node-13">
            <a:extLst xmlns:a="http://schemas.openxmlformats.org/drawingml/2006/main">
              <a:ext uri="{FF2B5EF4-FFF2-40B4-BE49-F238E27FC236}">
                <a16:creationId xmlns:a16="http://schemas.microsoft.com/office/drawing/2014/main" id="{38870DE7-92D0-4402-B8CE-4CA3ADA4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000625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母线</a:t>
            </a:r>
          </a:p>
        </p:txBody>
      </p:sp>
      <p:sp>
        <p:nvSpPr>
          <p:cNvPr id="15" name="cover.node-14">
            <a:extLst xmlns:a="http://schemas.openxmlformats.org/drawingml/2006/main">
              <a:ext uri="{FF2B5EF4-FFF2-40B4-BE49-F238E27FC236}">
                <a16:creationId xmlns:a16="http://schemas.microsoft.com/office/drawing/2014/main" id="{D0E7011C-BF51-4529-8A01-5233159C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334125"/>
            <a:ext cx="10001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母线</a:t>
            </a:r>
          </a:p>
        </p:txBody>
      </p:sp>
      <p:sp>
        <p:nvSpPr>
          <p:cNvPr id="23" name="cover.text-15">
            <a:extLst xmlns:a="http://schemas.openxmlformats.org/drawingml/2006/main">
              <a:ext uri="{FF2B5EF4-FFF2-40B4-BE49-F238E27FC236}">
                <a16:creationId xmlns:a16="http://schemas.microsoft.com/office/drawing/2014/main" id="{F06513F9-60D5-4F04-B130-64FC43D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286625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物理连接示意，不对应特定IEEE算例</a:t>
            </a:r>
          </a:p>
        </p:txBody>
      </p:sp>
    </p:spTree>
    <p:extLst>
      <p:ext uri="{BB962C8B-B14F-4D97-AF65-F5344CB8AC3E}">
        <p14:creationId xmlns:p14="http://schemas.microsoft.com/office/powerpoint/2010/main" val="151013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8DE03-A43B-4A20-AD16-8ACDC04692A0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7" idx="4"/>
          </p:cNvCxnSpPr>
          <p:nvPr/>
        </p:nvCxnSpPr>
        <p:spPr>
          <a:xfrm xmlns:a="http://schemas.openxmlformats.org/drawingml/2006/main" flipV="1">
            <a:off x="7620000" y="53340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167DB-150E-4372-A827-06B9450DBA0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27432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398B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8CACF-6AE1-4D51-B010-20D813F3AEB7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9344025" y="3643313"/>
            <a:ext cx="18478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8319E-7F64-4862-823E-850EE1ABA54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086225" y="3643313"/>
            <a:ext cx="18097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sp>
        <p:nvSpPr>
          <p:cNvPr id="22" name="research-question.node-1">
            <a:extLst xmlns:a="http://schemas.openxmlformats.org/drawingml/2006/main">
              <a:ext uri="{FF2B5EF4-FFF2-40B4-BE49-F238E27FC236}">
                <a16:creationId xmlns:a16="http://schemas.microsoft.com/office/drawing/2014/main" id="{A02654ED-5627-410E-825C-6542D6CA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research-question.title">
            <a:extLst xmlns:a="http://schemas.openxmlformats.org/drawingml/2006/main">
              <a:ext uri="{FF2B5EF4-FFF2-40B4-BE49-F238E27FC236}">
                <a16:creationId xmlns:a16="http://schemas.microsoft.com/office/drawing/2014/main" id="{BE3C6AF9-8518-4081-8BF2-39F5745F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研究问题与判断标准</a:t>
            </a:r>
          </a:p>
        </p:txBody>
      </p:sp>
      <p:sp>
        <p:nvSpPr>
          <p:cNvPr id="3" name="research-question.text-2">
            <a:extLst xmlns:a="http://schemas.openxmlformats.org/drawingml/2006/main">
              <a:ext uri="{FF2B5EF4-FFF2-40B4-BE49-F238E27FC236}">
                <a16:creationId xmlns:a16="http://schemas.microsoft.com/office/drawing/2014/main" id="{6E8B77A8-D81C-4316-A7FC-E9B4049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运行优化需要同时满足经济目标、物理约束和计算时限</a:t>
            </a:r>
          </a:p>
        </p:txBody>
      </p:sp>
      <p:sp>
        <p:nvSpPr>
          <p:cNvPr id="4" name="research-question.text-3">
            <a:extLst xmlns:a="http://schemas.openxmlformats.org/drawingml/2006/main">
              <a:ext uri="{FF2B5EF4-FFF2-40B4-BE49-F238E27FC236}">
                <a16:creationId xmlns:a16="http://schemas.microsoft.com/office/drawing/2014/main" id="{A5751429-7220-4572-BDA4-7A5BF4C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5" name="research-question.text-4">
            <a:extLst xmlns:a="http://schemas.openxmlformats.org/drawingml/2006/main">
              <a:ext uri="{FF2B5EF4-FFF2-40B4-BE49-F238E27FC236}">
                <a16:creationId xmlns:a16="http://schemas.microsoft.com/office/drawing/2014/main" id="{E921A538-02FC-47A3-A48B-9509A0D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分析框架 · 原创组织图，关系表示评价支撑</a:t>
            </a:r>
          </a:p>
        </p:txBody>
      </p:sp>
      <p:sp>
        <p:nvSpPr>
          <p:cNvPr id="6" name="research-question.text-5">
            <a:extLst xmlns:a="http://schemas.openxmlformats.org/drawingml/2006/main">
              <a:ext uri="{FF2B5EF4-FFF2-40B4-BE49-F238E27FC236}">
                <a16:creationId xmlns:a16="http://schemas.microsoft.com/office/drawing/2014/main" id="{CA2E3366-A63D-4E96-A4CF-77BB15E9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esearch-question.node-6">
            <a:extLst xmlns:a="http://schemas.openxmlformats.org/drawingml/2006/main">
              <a:ext uri="{FF2B5EF4-FFF2-40B4-BE49-F238E27FC236}">
                <a16:creationId xmlns:a16="http://schemas.microsoft.com/office/drawing/2014/main" id="{8998FE4D-A918-40D7-BF93-693366D0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286125"/>
            <a:ext cx="3448050" cy="2047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负荷变化下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可行经济决策</a:t>
            </a:r>
          </a:p>
        </p:txBody>
      </p:sp>
      <p:sp>
        <p:nvSpPr>
          <p:cNvPr id="8" name="research-question.node-7">
            <a:extLst xmlns:a="http://schemas.openxmlformats.org/drawingml/2006/main">
              <a:ext uri="{FF2B5EF4-FFF2-40B4-BE49-F238E27FC236}">
                <a16:creationId xmlns:a16="http://schemas.microsoft.com/office/drawing/2014/main" id="{BE70AE12-00E6-4C2E-A006-7CA0A0D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76575"/>
            <a:ext cx="32956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数据侧</a:t>
            </a:r>
          </a:p>
          <a:p xmlns:a="http://schemas.openxmlformats.org/drawingml/2006/main">
            <a:pPr algn="ctr">
              <a:defRPr sz="21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负荷与参考解</a:t>
            </a:r>
          </a:p>
        </p:txBody>
      </p:sp>
      <p:sp>
        <p:nvSpPr>
          <p:cNvPr id="9" name="research-question.node-8">
            <a:extLst xmlns:a="http://schemas.openxmlformats.org/drawingml/2006/main">
              <a:ext uri="{FF2B5EF4-FFF2-40B4-BE49-F238E27FC236}">
                <a16:creationId xmlns:a16="http://schemas.microsoft.com/office/drawing/2014/main" id="{18580A7D-B5D5-4969-8952-0ACDB23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76575"/>
            <a:ext cx="32956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物理侧</a:t>
            </a:r>
          </a:p>
          <a:p xmlns:a="http://schemas.openxmlformats.org/drawingml/2006/main">
            <a: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潮流与运行限值</a:t>
            </a:r>
          </a:p>
        </p:txBody>
      </p:sp>
      <p:sp>
        <p:nvSpPr>
          <p:cNvPr id="12" name="research-question.node-9">
            <a:extLst xmlns:a="http://schemas.openxmlformats.org/drawingml/2006/main">
              <a:ext uri="{FF2B5EF4-FFF2-40B4-BE49-F238E27FC236}">
                <a16:creationId xmlns:a16="http://schemas.microsoft.com/office/drawing/2014/main" id="{0CA5B895-ED40-4BF6-A77F-CDCEF3F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00250"/>
            <a:ext cx="2914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成本差异</a:t>
            </a:r>
          </a:p>
        </p:txBody>
      </p:sp>
      <p:sp>
        <p:nvSpPr>
          <p:cNvPr id="13" name="research-question.node-10">
            <a:extLst xmlns:a="http://schemas.openxmlformats.org/drawingml/2006/main">
              <a:ext uri="{FF2B5EF4-FFF2-40B4-BE49-F238E27FC236}">
                <a16:creationId xmlns:a16="http://schemas.microsoft.com/office/drawing/2014/main" id="{17957397-1FCD-4EC2-9D06-D1AD066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048375"/>
            <a:ext cx="2914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可行率</a:t>
            </a:r>
          </a:p>
        </p:txBody>
      </p:sp>
      <p:sp>
        <p:nvSpPr>
          <p:cNvPr id="16" name="research-question.text-11">
            <a:extLst xmlns:a="http://schemas.openxmlformats.org/drawingml/2006/main">
              <a:ext uri="{FF2B5EF4-FFF2-40B4-BE49-F238E27FC236}">
                <a16:creationId xmlns:a16="http://schemas.microsoft.com/office/drawing/2014/main" id="{1875467A-CCB7-482C-81F7-BFB229E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672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数据管理关注点</a:t>
            </a:r>
          </a:p>
        </p:txBody>
      </p:sp>
      <p:sp>
        <p:nvSpPr>
          <p:cNvPr id="17" name="research-question.text-12">
            <a:extLst xmlns:a="http://schemas.openxmlformats.org/drawingml/2006/main">
              <a:ext uri="{FF2B5EF4-FFF2-40B4-BE49-F238E27FC236}">
                <a16:creationId xmlns:a16="http://schemas.microsoft.com/office/drawing/2014/main" id="{F78D3325-D986-409E-B85A-C5939834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05425"/>
            <a:ext cx="3095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样本覆盖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标注质量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训练与测试边界</a:t>
            </a:r>
          </a:p>
        </p:txBody>
      </p:sp>
      <p:sp>
        <p:nvSpPr>
          <p:cNvPr id="18" name="research-question.text-13">
            <a:extLst xmlns:a="http://schemas.openxmlformats.org/drawingml/2006/main">
              <a:ext uri="{FF2B5EF4-FFF2-40B4-BE49-F238E27FC236}">
                <a16:creationId xmlns:a16="http://schemas.microsoft.com/office/drawing/2014/main" id="{222FFE45-6BD7-4AF6-918B-DB5ADD6D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6672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电力研究关注点</a:t>
            </a:r>
          </a:p>
        </p:txBody>
      </p:sp>
      <p:sp>
        <p:nvSpPr>
          <p:cNvPr id="19" name="research-question.text-14">
            <a:extLst xmlns:a="http://schemas.openxmlformats.org/drawingml/2006/main">
              <a:ext uri="{FF2B5EF4-FFF2-40B4-BE49-F238E27FC236}">
                <a16:creationId xmlns:a16="http://schemas.microsoft.com/office/drawing/2014/main" id="{9ADA0879-CB7E-4C97-A928-2B088DB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05425"/>
            <a:ext cx="3095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功率平衡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电压与设备限值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异常工况处置</a:t>
            </a:r>
          </a:p>
        </p:txBody>
      </p:sp>
      <p:sp>
        <p:nvSpPr>
          <p:cNvPr id="20" name="research-question.text-15">
            <a:extLst xmlns:a="http://schemas.openxmlformats.org/drawingml/2006/main">
              <a:ext uri="{FF2B5EF4-FFF2-40B4-BE49-F238E27FC236}">
                <a16:creationId xmlns:a16="http://schemas.microsoft.com/office/drawing/2014/main" id="{BFFE4989-D60A-408E-AF14-8AC95C2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62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计算速度</a:t>
            </a:r>
          </a:p>
        </p:txBody>
      </p:sp>
      <p:sp>
        <p:nvSpPr>
          <p:cNvPr id="21" name="research-question.text-16">
            <a:extLst xmlns:a="http://schemas.openxmlformats.org/drawingml/2006/main">
              <a:ext uri="{FF2B5EF4-FFF2-40B4-BE49-F238E27FC236}">
                <a16:creationId xmlns:a16="http://schemas.microsoft.com/office/drawing/2014/main" id="{108EBAA2-A509-471E-B9EC-91EBA18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818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核心判断：预测误差小，还需要检查运行约束是否满足</a:t>
            </a:r>
          </a:p>
        </p:txBody>
      </p:sp>
    </p:spTree>
    <p:extLst>
      <p:ext uri="{BB962C8B-B14F-4D97-AF65-F5344CB8AC3E}">
        <p14:creationId xmlns:p14="http://schemas.microsoft.com/office/powerpoint/2010/main" val="1178648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0AEF48-E95C-4450-94B5-CF63A478FFCF}"/>
              </a:ext>
            </a:extLst>
          </p:cNvPr>
          <p:cNvCxnSpPr>
            <a:stCxn xmlns:a="http://schemas.openxmlformats.org/drawingml/2006/main" id="45" idx="0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9229725" y="6529388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8701EE-9FA0-4B70-AAF5-0FA37128AF11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3"/>
          </p:cNvCxnSpPr>
          <p:nvPr/>
        </p:nvCxnSpPr>
        <p:spPr>
          <a:xfrm xmlns:a="http://schemas.openxmlformats.org/drawingml/2006/main">
            <a:off x="4010025" y="652938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sp>
        <p:nvSpPr>
          <p:cNvPr id="51" name="opf-context.node-1">
            <a:extLst xmlns:a="http://schemas.openxmlformats.org/drawingml/2006/main">
              <a:ext uri="{FF2B5EF4-FFF2-40B4-BE49-F238E27FC236}">
                <a16:creationId xmlns:a16="http://schemas.microsoft.com/office/drawing/2014/main" id="{AE8EEE67-6ECE-41CD-B62F-E5E4662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opf-context.title">
            <a:extLst xmlns:a="http://schemas.openxmlformats.org/drawingml/2006/main">
              <a:ext uri="{FF2B5EF4-FFF2-40B4-BE49-F238E27FC236}">
                <a16:creationId xmlns:a16="http://schemas.microsoft.com/office/drawing/2014/main" id="{E26B8325-D345-4C34-8E8C-0B96603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最优潮流的运行问题</a:t>
            </a:r>
          </a:p>
        </p:txBody>
      </p:sp>
      <p:sp>
        <p:nvSpPr>
          <p:cNvPr id="3" name="opf-context.text-2">
            <a:extLst xmlns:a="http://schemas.openxmlformats.org/drawingml/2006/main">
              <a:ext uri="{FF2B5EF4-FFF2-40B4-BE49-F238E27FC236}">
                <a16:creationId xmlns:a16="http://schemas.microsoft.com/office/drawing/2014/main" id="{AF889E09-33C3-46A2-8651-5D13EEB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负荷、电网和设备边界共同限定低成本发电决策</a:t>
            </a:r>
          </a:p>
        </p:txBody>
      </p:sp>
      <p:sp>
        <p:nvSpPr>
          <p:cNvPr id="4" name="opf-context.text-3">
            <a:extLst xmlns:a="http://schemas.openxmlformats.org/drawingml/2006/main">
              <a:ext uri="{FF2B5EF4-FFF2-40B4-BE49-F238E27FC236}">
                <a16:creationId xmlns:a16="http://schemas.microsoft.com/office/drawing/2014/main" id="{9CEA0648-E991-4B42-9E60-DC54002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5" name="opf-context.text-4">
            <a:extLst xmlns:a="http://schemas.openxmlformats.org/drawingml/2006/main">
              <a:ext uri="{FF2B5EF4-FFF2-40B4-BE49-F238E27FC236}">
                <a16:creationId xmlns:a16="http://schemas.microsoft.com/office/drawing/2014/main" id="{0D117CA0-021F-4545-87B3-4B89FB4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来源：MATPOWER User Manual §4、§6 · 网络为原创连接示意</a:t>
            </a:r>
          </a:p>
        </p:txBody>
      </p:sp>
      <p:sp>
        <p:nvSpPr>
          <p:cNvPr id="6" name="opf-context.text-5">
            <a:extLst xmlns:a="http://schemas.openxmlformats.org/drawingml/2006/main">
              <a:ext uri="{FF2B5EF4-FFF2-40B4-BE49-F238E27FC236}">
                <a16:creationId xmlns:a16="http://schemas.microsoft.com/office/drawing/2014/main" id="{D29819B7-EF38-4F01-9B9C-5A3059E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opf-context.node-6">
            <a:extLst xmlns:a="http://schemas.openxmlformats.org/drawingml/2006/main">
              <a:ext uri="{FF2B5EF4-FFF2-40B4-BE49-F238E27FC236}">
                <a16:creationId xmlns:a16="http://schemas.microsoft.com/office/drawing/2014/main" id="{2C188259-4CAF-49E0-BA2C-A131905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21030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opf-context.node-7">
            <a:extLst xmlns:a="http://schemas.openxmlformats.org/drawingml/2006/main">
              <a:ext uri="{FF2B5EF4-FFF2-40B4-BE49-F238E27FC236}">
                <a16:creationId xmlns:a16="http://schemas.microsoft.com/office/drawing/2014/main" id="{FC4E0782-1CD1-4459-BA26-F099381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21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物理网络与运行状态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8DF76-D262-4517-A669-4591C97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9684" y="2758821"/>
            <a:ext cx="726758" cy="443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FBAE7-D287-4422-9292-7EE0A80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684" y="3202305"/>
            <a:ext cx="882491" cy="7760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6FAD9-F40E-40B7-9359-CE1FECE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6441" y="2758821"/>
            <a:ext cx="934403" cy="369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DC3EF-4B0D-40B5-9DDD-94B2BFA2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40844" y="2721864"/>
            <a:ext cx="830580" cy="4065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09AE7-E7E7-40E9-9D99-90C9DBEF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0844" y="3128391"/>
            <a:ext cx="467201" cy="7206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11B18-8A37-48E3-8D57-B6AB7F92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71424" y="2721864"/>
            <a:ext cx="1401604" cy="1663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3E00A-6087-4FE5-A5AB-05ABD505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73028" y="2888171"/>
            <a:ext cx="1038225" cy="388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73F6D-6344-4D84-AAA8-C1C33986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238625" y="2888171"/>
            <a:ext cx="934403" cy="443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7EA1A-5C4E-42CC-8104-A2D9BA67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121116" y="3276219"/>
            <a:ext cx="1090136" cy="5728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213C2-1DE8-486A-AC0E-BF1815DA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62175" y="3849053"/>
            <a:ext cx="1245870" cy="1293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5B185-41B9-414E-85CB-B59F377F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8045" y="3331654"/>
            <a:ext cx="830580" cy="517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FD3CC-97F0-4C30-8CAE-F94ACB60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8045" y="3849053"/>
            <a:ext cx="415290" cy="591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EC9A3-1D7F-49B3-8555-AAC161B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331654"/>
            <a:ext cx="882491" cy="517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27243-D67D-40C0-BC55-B452E31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1116" y="3849053"/>
            <a:ext cx="986314" cy="498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314FF-6568-424F-AFD3-010DAAE4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23335" y="4347972"/>
            <a:ext cx="2284095" cy="923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36EAA"/>
            </a:solidFill>
          </a:ln>
        </p:spPr>
      </p:sp>
      <p:sp>
        <p:nvSpPr>
          <p:cNvPr id="24" name="opf-context.node-8">
            <a:extLst xmlns:a="http://schemas.openxmlformats.org/drawingml/2006/main">
              <a:ext uri="{FF2B5EF4-FFF2-40B4-BE49-F238E27FC236}">
                <a16:creationId xmlns:a16="http://schemas.microsoft.com/office/drawing/2014/main" id="{18ABAE2B-AEAE-44A0-95DD-E8106BB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59" y="30784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5" name="opf-context.node-9">
            <a:extLst xmlns:a="http://schemas.openxmlformats.org/drawingml/2006/main">
              <a:ext uri="{FF2B5EF4-FFF2-40B4-BE49-F238E27FC236}">
                <a16:creationId xmlns:a16="http://schemas.microsoft.com/office/drawing/2014/main" id="{0C8971ED-E687-4B96-8F9A-41FACF1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616" y="263499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6" name="opf-context.node-10">
            <a:extLst xmlns:a="http://schemas.openxmlformats.org/drawingml/2006/main">
              <a:ext uri="{FF2B5EF4-FFF2-40B4-BE49-F238E27FC236}">
                <a16:creationId xmlns:a16="http://schemas.microsoft.com/office/drawing/2014/main" id="{5C4B7491-353C-437A-9A6B-58603E7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19" y="300456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opf-context.node-11">
            <a:extLst xmlns:a="http://schemas.openxmlformats.org/drawingml/2006/main">
              <a:ext uri="{FF2B5EF4-FFF2-40B4-BE49-F238E27FC236}">
                <a16:creationId xmlns:a16="http://schemas.microsoft.com/office/drawing/2014/main" id="{73ABDDD9-3103-484E-8003-CB9D98D5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599" y="259803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opf-context.node-12">
            <a:extLst xmlns:a="http://schemas.openxmlformats.org/drawingml/2006/main">
              <a:ext uri="{FF2B5EF4-FFF2-40B4-BE49-F238E27FC236}">
                <a16:creationId xmlns:a16="http://schemas.microsoft.com/office/drawing/2014/main" id="{B7B0236C-11D1-409B-8DCD-362C086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203" y="276434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opf-context.node-13">
            <a:extLst xmlns:a="http://schemas.openxmlformats.org/drawingml/2006/main">
              <a:ext uri="{FF2B5EF4-FFF2-40B4-BE49-F238E27FC236}">
                <a16:creationId xmlns:a16="http://schemas.microsoft.com/office/drawing/2014/main" id="{E5FF66BF-03C7-4525-A102-75901F10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428" y="315239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opf-context.node-14">
            <a:extLst xmlns:a="http://schemas.openxmlformats.org/drawingml/2006/main">
              <a:ext uri="{FF2B5EF4-FFF2-40B4-BE49-F238E27FC236}">
                <a16:creationId xmlns:a16="http://schemas.microsoft.com/office/drawing/2014/main" id="{ED213A4D-C9B8-4A54-A871-52FFD5E3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5457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opf-context.node-15">
            <a:extLst xmlns:a="http://schemas.openxmlformats.org/drawingml/2006/main">
              <a:ext uri="{FF2B5EF4-FFF2-40B4-BE49-F238E27FC236}">
                <a16:creationId xmlns:a16="http://schemas.microsoft.com/office/drawing/2014/main" id="{6B7DF0EA-1EEA-4DF7-964B-FA357A5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372522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opf-context.node-16">
            <a:extLst xmlns:a="http://schemas.openxmlformats.org/drawingml/2006/main">
              <a:ext uri="{FF2B5EF4-FFF2-40B4-BE49-F238E27FC236}">
                <a16:creationId xmlns:a16="http://schemas.microsoft.com/office/drawing/2014/main" id="{AA09E58B-1213-4283-A212-2E364C9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782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opf-context.node-17">
            <a:extLst xmlns:a="http://schemas.openxmlformats.org/drawingml/2006/main">
              <a:ext uri="{FF2B5EF4-FFF2-40B4-BE49-F238E27FC236}">
                <a16:creationId xmlns:a16="http://schemas.microsoft.com/office/drawing/2014/main" id="{724870CE-415D-4F32-8818-A567580C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291" y="372522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opf-context.node-18">
            <a:extLst xmlns:a="http://schemas.openxmlformats.org/drawingml/2006/main">
              <a:ext uri="{FF2B5EF4-FFF2-40B4-BE49-F238E27FC236}">
                <a16:creationId xmlns:a16="http://schemas.microsoft.com/office/drawing/2014/main" id="{CC04E21E-ED58-4F28-8697-1246E92A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422414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opf-context.node-19">
            <a:extLst xmlns:a="http://schemas.openxmlformats.org/drawingml/2006/main">
              <a:ext uri="{FF2B5EF4-FFF2-40B4-BE49-F238E27FC236}">
                <a16:creationId xmlns:a16="http://schemas.microsoft.com/office/drawing/2014/main" id="{67B61867-CCDB-4175-B048-02C2DFF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510" y="43165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opf-context.text-20">
            <a:extLst xmlns:a="http://schemas.openxmlformats.org/drawingml/2006/main">
              <a:ext uri="{FF2B5EF4-FFF2-40B4-BE49-F238E27FC236}">
                <a16:creationId xmlns:a16="http://schemas.microsoft.com/office/drawing/2014/main" id="{2F5C12B8-0B74-4DD1-9691-3E5F885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电源 G、母线与支路连接示意</a:t>
            </a:r>
          </a:p>
        </p:txBody>
      </p:sp>
      <p:sp>
        <p:nvSpPr>
          <p:cNvPr id="37" name="opf-context.text-21">
            <a:extLst xmlns:a="http://schemas.openxmlformats.org/drawingml/2006/main">
              <a:ext uri="{FF2B5EF4-FFF2-40B4-BE49-F238E27FC236}">
                <a16:creationId xmlns:a16="http://schemas.microsoft.com/office/drawing/2014/main" id="{F0A2E389-C718-4439-92B0-144CB3C3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6255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负荷输入：Pᴰ、Qᴰ</a:t>
            </a:r>
          </a:p>
        </p:txBody>
      </p:sp>
      <p:sp>
        <p:nvSpPr>
          <p:cNvPr id="38" name="opf-context.node-22">
            <a:extLst xmlns:a="http://schemas.openxmlformats.org/drawingml/2006/main">
              <a:ext uri="{FF2B5EF4-FFF2-40B4-BE49-F238E27FC236}">
                <a16:creationId xmlns:a16="http://schemas.microsoft.com/office/drawing/2014/main" id="{9D15013A-AB04-4D6B-B944-4062829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90700"/>
            <a:ext cx="6619875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opf-context.node-23">
            <a:extLst xmlns:a="http://schemas.openxmlformats.org/drawingml/2006/main">
              <a:ext uri="{FF2B5EF4-FFF2-40B4-BE49-F238E27FC236}">
                <a16:creationId xmlns:a16="http://schemas.microsoft.com/office/drawing/2014/main" id="{0DEF370F-0CE4-4A64-9A09-0324B0DB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90700"/>
            <a:ext cx="6619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AC-OPF：目标与可行域</a:t>
            </a:r>
          </a:p>
        </p:txBody>
      </p:sp>
      <p:sp>
        <p:nvSpPr>
          <p:cNvPr id="40" name="opf-context.text-24">
            <a:extLst xmlns:a="http://schemas.openxmlformats.org/drawingml/2006/main">
              <a:ext uri="{FF2B5EF4-FFF2-40B4-BE49-F238E27FC236}">
                <a16:creationId xmlns:a16="http://schemas.microsoft.com/office/drawing/2014/main" id="{B778C3CE-90C7-445C-B923-32A954A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05075"/>
            <a:ext cx="576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min  Σ Cᵢ(Pᴳᵢ)</a:t>
            </a:r>
          </a:p>
        </p:txBody>
      </p:sp>
      <p:sp>
        <p:nvSpPr>
          <p:cNvPr id="41" name="opf-context.node-25">
            <a:extLst xmlns:a="http://schemas.openxmlformats.org/drawingml/2006/main">
              <a:ext uri="{FF2B5EF4-FFF2-40B4-BE49-F238E27FC236}">
                <a16:creationId xmlns:a16="http://schemas.microsoft.com/office/drawing/2014/main" id="{60E247F9-E8AB-4AB2-BC67-B005380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48050"/>
            <a:ext cx="27813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功率平衡</a:t>
            </a:r>
          </a:p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AC潮流等式</a:t>
            </a:r>
          </a:p>
        </p:txBody>
      </p:sp>
      <p:sp>
        <p:nvSpPr>
          <p:cNvPr id="42" name="opf-context.node-26">
            <a:extLst xmlns:a="http://schemas.openxmlformats.org/drawingml/2006/main">
              <a:ext uri="{FF2B5EF4-FFF2-40B4-BE49-F238E27FC236}">
                <a16:creationId xmlns:a16="http://schemas.microsoft.com/office/drawing/2014/main" id="{ACB5AA62-6174-4766-918E-344EE427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448050"/>
            <a:ext cx="29146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发电 / 电压 / 支路</a:t>
            </a:r>
          </a:p>
        </p:txBody>
      </p:sp>
      <p:sp>
        <p:nvSpPr>
          <p:cNvPr id="43" name="opf-context.text-27">
            <a:extLst xmlns:a="http://schemas.openxmlformats.org/drawingml/2006/main">
              <a:ext uri="{FF2B5EF4-FFF2-40B4-BE49-F238E27FC236}">
                <a16:creationId xmlns:a16="http://schemas.microsoft.com/office/drawing/2014/main" id="{94498C62-ED11-475A-AAB5-871F34B2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914900"/>
            <a:ext cx="6048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同时满足，才能形成候选运行方案</a:t>
            </a:r>
          </a:p>
        </p:txBody>
      </p:sp>
      <p:sp>
        <p:nvSpPr>
          <p:cNvPr id="44" name="opf-context.node-28">
            <a:extLst xmlns:a="http://schemas.openxmlformats.org/drawingml/2006/main">
              <a:ext uri="{FF2B5EF4-FFF2-40B4-BE49-F238E27FC236}">
                <a16:creationId xmlns:a16="http://schemas.microsoft.com/office/drawing/2014/main" id="{02E9120A-5859-4C15-8640-F486A23C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32480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负荷与电网参数</a:t>
            </a:r>
          </a:p>
        </p:txBody>
      </p:sp>
      <p:sp>
        <p:nvSpPr>
          <p:cNvPr id="45" name="opf-context.node-29">
            <a:extLst xmlns:a="http://schemas.openxmlformats.org/drawingml/2006/main">
              <a:ext uri="{FF2B5EF4-FFF2-40B4-BE49-F238E27FC236}">
                <a16:creationId xmlns:a16="http://schemas.microsoft.com/office/drawing/2014/main" id="{84CDA3D6-7B80-4490-BFD2-18D19833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6115050"/>
            <a:ext cx="3219450" cy="8286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约束优化</a:t>
            </a:r>
          </a:p>
        </p:txBody>
      </p:sp>
      <p:sp>
        <p:nvSpPr>
          <p:cNvPr id="46" name="opf-context.node-30">
            <a:extLst xmlns:a="http://schemas.openxmlformats.org/drawingml/2006/main">
              <a:ext uri="{FF2B5EF4-FFF2-40B4-BE49-F238E27FC236}">
                <a16:creationId xmlns:a16="http://schemas.microsoft.com/office/drawing/2014/main" id="{2A969023-CFF9-49C9-81E6-2703208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15050"/>
            <a:ext cx="3143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Pᴳ、Qᴳ、V、θ</a:t>
            </a:r>
          </a:p>
        </p:txBody>
      </p:sp>
      <p:sp>
        <p:nvSpPr>
          <p:cNvPr id="49" name="opf-context.text-31">
            <a:extLst xmlns:a="http://schemas.openxmlformats.org/drawingml/2006/main">
              <a:ext uri="{FF2B5EF4-FFF2-40B4-BE49-F238E27FC236}">
                <a16:creationId xmlns:a16="http://schemas.microsoft.com/office/drawing/2014/main" id="{60701793-159A-4A5A-A977-1FCF921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248525"/>
            <a:ext cx="652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潮流：计算给定设定的状态</a:t>
            </a:r>
          </a:p>
        </p:txBody>
      </p:sp>
      <p:sp>
        <p:nvSpPr>
          <p:cNvPr id="50" name="opf-context.text-32">
            <a:extLst xmlns:a="http://schemas.openxmlformats.org/drawingml/2006/main">
              <a:ext uri="{FF2B5EF4-FFF2-40B4-BE49-F238E27FC236}">
                <a16:creationId xmlns:a16="http://schemas.microsoft.com/office/drawing/2014/main" id="{0A4B2DA2-3D7C-474E-BDF8-2B80FA8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248525"/>
            <a:ext cx="677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最优潮流：在可行域中选择经济决策</a:t>
            </a:r>
          </a:p>
        </p:txBody>
      </p:sp>
    </p:spTree>
    <p:extLst>
      <p:ext uri="{BB962C8B-B14F-4D97-AF65-F5344CB8AC3E}">
        <p14:creationId xmlns:p14="http://schemas.microsoft.com/office/powerpoint/2010/main" val="1858683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rmulation.node-1">
            <a:extLst xmlns:a="http://schemas.openxmlformats.org/drawingml/2006/main">
              <a:ext uri="{FF2B5EF4-FFF2-40B4-BE49-F238E27FC236}">
                <a16:creationId xmlns:a16="http://schemas.microsoft.com/office/drawing/2014/main" id="{233B5F97-5D60-415D-929E-2606CEC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formulation.title">
            <a:extLst xmlns:a="http://schemas.openxmlformats.org/drawingml/2006/main">
              <a:ext uri="{FF2B5EF4-FFF2-40B4-BE49-F238E27FC236}">
                <a16:creationId xmlns:a16="http://schemas.microsoft.com/office/drawing/2014/main" id="{DA225694-660B-4DE3-B048-00A50FE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AC-OPF的目标与约束</a:t>
            </a:r>
          </a:p>
        </p:txBody>
      </p:sp>
      <p:sp>
        <p:nvSpPr>
          <p:cNvPr id="3" name="formulation.text-2">
            <a:extLst xmlns:a="http://schemas.openxmlformats.org/drawingml/2006/main">
              <a:ext uri="{FF2B5EF4-FFF2-40B4-BE49-F238E27FC236}">
                <a16:creationId xmlns:a16="http://schemas.microsoft.com/office/drawing/2014/main" id="{9729F0F6-11A8-4C76-BA80-6721A64C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经济目标与网络物理关系共同决定可行解</a:t>
            </a:r>
          </a:p>
        </p:txBody>
      </p:sp>
      <p:sp>
        <p:nvSpPr>
          <p:cNvPr id="4" name="formulation.text-3">
            <a:extLst xmlns:a="http://schemas.openxmlformats.org/drawingml/2006/main">
              <a:ext uri="{FF2B5EF4-FFF2-40B4-BE49-F238E27FC236}">
                <a16:creationId xmlns:a16="http://schemas.microsoft.com/office/drawing/2014/main" id="{BFA65998-31DA-4BEA-843C-4E4EB93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5" name="formulation.text-4">
            <a:extLst xmlns:a="http://schemas.openxmlformats.org/drawingml/2006/main">
              <a:ext uri="{FF2B5EF4-FFF2-40B4-BE49-F238E27FC236}">
                <a16:creationId xmlns:a16="http://schemas.microsoft.com/office/drawing/2014/main" id="{7C41D02A-8BFE-4B55-B3A7-73F0396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§III，式(1)–(7) · 记号略作统一</a:t>
            </a:r>
          </a:p>
        </p:txBody>
      </p:sp>
      <p:sp>
        <p:nvSpPr>
          <p:cNvPr id="6" name="formulation.text-5">
            <a:extLst xmlns:a="http://schemas.openxmlformats.org/drawingml/2006/main">
              <a:ext uri="{FF2B5EF4-FFF2-40B4-BE49-F238E27FC236}">
                <a16:creationId xmlns:a16="http://schemas.microsoft.com/office/drawing/2014/main" id="{62EC7862-C49F-410C-871E-9EA7BF0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formulation.text-6">
            <a:extLst xmlns:a="http://schemas.openxmlformats.org/drawingml/2006/main">
              <a:ext uri="{FF2B5EF4-FFF2-40B4-BE49-F238E27FC236}">
                <a16:creationId xmlns:a16="http://schemas.microsoft.com/office/drawing/2014/main" id="{0D339DD2-4C19-4355-8CDF-DC2B55D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min   Σᵢ∈ᴳ Cᵢ(Pᴳᵢ)</a:t>
            </a:r>
          </a:p>
        </p:txBody>
      </p:sp>
      <p:sp>
        <p:nvSpPr>
          <p:cNvPr id="8" name="formulation.text-7">
            <a:extLst xmlns:a="http://schemas.openxmlformats.org/drawingml/2006/main">
              <a:ext uri="{FF2B5EF4-FFF2-40B4-BE49-F238E27FC236}">
                <a16:creationId xmlns:a16="http://schemas.microsoft.com/office/drawing/2014/main" id="{FEE2EFD5-D838-4CB7-B696-A4D5B2E1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Pᴳᵢ − Pᴰᵢ = Σⱼ |Vᵢ||Vⱼ| [Gᵢⱼ cos(θᵢ−θⱼ) + Bᵢⱼ sin(θᵢ−θⱼ)]</a:t>
            </a:r>
          </a:p>
        </p:txBody>
      </p:sp>
      <p:sp>
        <p:nvSpPr>
          <p:cNvPr id="9" name="formulation.text-8">
            <a:extLst xmlns:a="http://schemas.openxmlformats.org/drawingml/2006/main">
              <a:ext uri="{FF2B5EF4-FFF2-40B4-BE49-F238E27FC236}">
                <a16:creationId xmlns:a16="http://schemas.microsoft.com/office/drawing/2014/main" id="{8721DED2-71FB-4B68-B192-2DE4B8EF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19550"/>
            <a:ext cx="1352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Qᴳᵢ − Qᴰᵢ = Σⱼ |Vᵢ||Vⱼ| [Gᵢⱼ sin(θᵢ−θⱼ) − Bᵢⱼ cos(θᵢ−θⱼ)]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3F1D8-AE3B-4FCE-9AEE-2CD09FD3214D}"/>
              </a:ext>
            </a:extLst>
          </p:cNvPr>
          <p:cNvGraphicFramePr/>
          <p:nvPr/>
        </p:nvGraphicFramePr>
        <p:xfrm>
          <a:off xmlns:a="http://schemas.openxmlformats.org/drawingml/2006/main" x="781050" y="5162550"/>
          <a:ext xmlns:a="http://schemas.openxmlformats.org/drawingml/2006/main" cx="13677900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334000"/>
                <a:gridCol w="5486400"/>
              </a:tblGrid>
              <a:tr h="554831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约束类别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主要变量与边界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</a:tr>
              <a:tr h="554831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Pᴳ、Qᴳ 的上下限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发电机运行范围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4831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电压限制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|V| 的上下限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母线电压范围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554831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支路限制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|Sᵢⱼ| ≤ Sᵢⱼ,max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支路视在功率限值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437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9D02277-F8A7-4952-B3DC-397738E2BABD}"/>
              </a:ext>
            </a:extLst>
          </p:cNvPr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10010775" y="6072188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cxnSp>
        <p:nvCxn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1B2EC9B-D68C-453D-BC0E-8BD65FD95575}"/>
              </a:ext>
            </a:extLst>
          </p:cNvPr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5467350" y="60721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sp>
        <p:nvSpPr>
          <p:cNvPr id="136" name="mapping.node-1">
            <a:extLst xmlns:a="http://schemas.openxmlformats.org/drawingml/2006/main">
              <a:ext uri="{FF2B5EF4-FFF2-40B4-BE49-F238E27FC236}">
                <a16:creationId xmlns:a16="http://schemas.microsoft.com/office/drawing/2014/main" id="{D9097B33-85F1-49C5-B7F5-612BC9E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mapping.title">
            <a:extLst xmlns:a="http://schemas.openxmlformats.org/drawingml/2006/main">
              <a:ext uri="{FF2B5EF4-FFF2-40B4-BE49-F238E27FC236}">
                <a16:creationId xmlns:a16="http://schemas.microsoft.com/office/drawing/2014/main" id="{9692A1F0-06F3-4F87-B841-C402EE5C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负荷到运行变量的学习映射</a:t>
            </a:r>
          </a:p>
        </p:txBody>
      </p:sp>
      <p:sp>
        <p:nvSpPr>
          <p:cNvPr id="3" name="mapping.text-2">
            <a:extLst xmlns:a="http://schemas.openxmlformats.org/drawingml/2006/main">
              <a:ext uri="{FF2B5EF4-FFF2-40B4-BE49-F238E27FC236}">
                <a16:creationId xmlns:a16="http://schemas.microsoft.com/office/drawing/2014/main" id="{7278A322-464B-4850-B1E4-3FC14FF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固定网络条件下，用监督样本学习部分运行变量</a:t>
            </a:r>
          </a:p>
        </p:txBody>
      </p:sp>
      <p:sp>
        <p:nvSpPr>
          <p:cNvPr id="4" name="mapping.text-3">
            <a:extLst xmlns:a="http://schemas.openxmlformats.org/drawingml/2006/main">
              <a:ext uri="{FF2B5EF4-FFF2-40B4-BE49-F238E27FC236}">
                <a16:creationId xmlns:a16="http://schemas.microsoft.com/office/drawing/2014/main" id="{B203973B-AD0E-44B3-B06B-22FDA5B2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mapping.text-4">
            <a:extLst xmlns:a="http://schemas.openxmlformats.org/drawingml/2006/main">
              <a:ext uri="{FF2B5EF4-FFF2-40B4-BE49-F238E27FC236}">
                <a16:creationId xmlns:a16="http://schemas.microsoft.com/office/drawing/2014/main" id="{DC18F01A-B2F5-4D15-BFD2-81B6593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§IV-A、§IV-D · 样本矩阵和网络均为结构示意</a:t>
            </a:r>
          </a:p>
        </p:txBody>
      </p:sp>
      <p:sp>
        <p:nvSpPr>
          <p:cNvPr id="6" name="mapping.text-5">
            <a:extLst xmlns:a="http://schemas.openxmlformats.org/drawingml/2006/main">
              <a:ext uri="{FF2B5EF4-FFF2-40B4-BE49-F238E27FC236}">
                <a16:creationId xmlns:a16="http://schemas.microsoft.com/office/drawing/2014/main" id="{31C86023-1484-43FE-BC39-E7F4CE9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mapping.node-6">
            <a:extLst xmlns:a="http://schemas.openxmlformats.org/drawingml/2006/main">
              <a:ext uri="{FF2B5EF4-FFF2-40B4-BE49-F238E27FC236}">
                <a16:creationId xmlns:a16="http://schemas.microsoft.com/office/drawing/2014/main" id="{A189D67E-369C-4522-B15E-37D554C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34194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mapping.node-7">
            <a:extLst xmlns:a="http://schemas.openxmlformats.org/drawingml/2006/main">
              <a:ext uri="{FF2B5EF4-FFF2-40B4-BE49-F238E27FC236}">
                <a16:creationId xmlns:a16="http://schemas.microsoft.com/office/drawing/2014/main" id="{28A2D394-EACF-4C73-B600-026A38F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57375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样本输入 X</a:t>
            </a:r>
          </a:p>
        </p:txBody>
      </p:sp>
      <p:sp>
        <p:nvSpPr>
          <p:cNvPr id="9" name="mapping.text-8">
            <a:extLst xmlns:a="http://schemas.openxmlformats.org/drawingml/2006/main">
              <a:ext uri="{FF2B5EF4-FFF2-40B4-BE49-F238E27FC236}">
                <a16:creationId xmlns:a16="http://schemas.microsoft.com/office/drawing/2014/main" id="{F5505172-7FD7-4513-AFBC-A42C2958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Pᴰ、Qᴰ</a:t>
            </a:r>
          </a:p>
        </p:txBody>
      </p:sp>
      <p:sp>
        <p:nvSpPr>
          <p:cNvPr id="10" name="mapping.node-9">
            <a:extLst xmlns:a="http://schemas.openxmlformats.org/drawingml/2006/main">
              <a:ext uri="{FF2B5EF4-FFF2-40B4-BE49-F238E27FC236}">
                <a16:creationId xmlns:a16="http://schemas.microsoft.com/office/drawing/2014/main" id="{51F7CC51-411D-4E74-82F6-7F9E537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051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mapping.node-10">
            <a:extLst xmlns:a="http://schemas.openxmlformats.org/drawingml/2006/main">
              <a:ext uri="{FF2B5EF4-FFF2-40B4-BE49-F238E27FC236}">
                <a16:creationId xmlns:a16="http://schemas.microsoft.com/office/drawing/2014/main" id="{8F8EFF85-371C-418E-B76C-2F93561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31051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mapping.node-11">
            <a:extLst xmlns:a="http://schemas.openxmlformats.org/drawingml/2006/main">
              <a:ext uri="{FF2B5EF4-FFF2-40B4-BE49-F238E27FC236}">
                <a16:creationId xmlns:a16="http://schemas.microsoft.com/office/drawing/2014/main" id="{2F1F387F-6BA8-4E32-9777-8E2A31A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31051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mapping.node-12">
            <a:extLst xmlns:a="http://schemas.openxmlformats.org/drawingml/2006/main">
              <a:ext uri="{FF2B5EF4-FFF2-40B4-BE49-F238E27FC236}">
                <a16:creationId xmlns:a16="http://schemas.microsoft.com/office/drawing/2014/main" id="{1716859C-2B7A-4AD1-84C4-CA057E44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31051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mapping.node-13">
            <a:extLst xmlns:a="http://schemas.openxmlformats.org/drawingml/2006/main">
              <a:ext uri="{FF2B5EF4-FFF2-40B4-BE49-F238E27FC236}">
                <a16:creationId xmlns:a16="http://schemas.microsoft.com/office/drawing/2014/main" id="{74066D44-6F42-4223-9004-33AF30B3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1051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mapping.node-14">
            <a:extLst xmlns:a="http://schemas.openxmlformats.org/drawingml/2006/main">
              <a:ext uri="{FF2B5EF4-FFF2-40B4-BE49-F238E27FC236}">
                <a16:creationId xmlns:a16="http://schemas.microsoft.com/office/drawing/2014/main" id="{BB7662B9-3B2D-4BFE-8090-EEE0343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8137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mapping.node-15">
            <a:extLst xmlns:a="http://schemas.openxmlformats.org/drawingml/2006/main">
              <a:ext uri="{FF2B5EF4-FFF2-40B4-BE49-F238E27FC236}">
                <a16:creationId xmlns:a16="http://schemas.microsoft.com/office/drawing/2014/main" id="{2AB358FA-74CE-48E1-A172-8964E32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338137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mapping.node-16">
            <a:extLst xmlns:a="http://schemas.openxmlformats.org/drawingml/2006/main">
              <a:ext uri="{FF2B5EF4-FFF2-40B4-BE49-F238E27FC236}">
                <a16:creationId xmlns:a16="http://schemas.microsoft.com/office/drawing/2014/main" id="{707C37CC-DE50-4E34-BB4F-5EB9CB4E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338137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mapping.node-17">
            <a:extLst xmlns:a="http://schemas.openxmlformats.org/drawingml/2006/main">
              <a:ext uri="{FF2B5EF4-FFF2-40B4-BE49-F238E27FC236}">
                <a16:creationId xmlns:a16="http://schemas.microsoft.com/office/drawing/2014/main" id="{96760D88-CB95-4343-8686-4DDA2A2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338137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mapping.node-18">
            <a:extLst xmlns:a="http://schemas.openxmlformats.org/drawingml/2006/main">
              <a:ext uri="{FF2B5EF4-FFF2-40B4-BE49-F238E27FC236}">
                <a16:creationId xmlns:a16="http://schemas.microsoft.com/office/drawing/2014/main" id="{DF570629-E972-42A7-A0CD-34704F69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137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mapping.node-19">
            <a:extLst xmlns:a="http://schemas.openxmlformats.org/drawingml/2006/main">
              <a:ext uri="{FF2B5EF4-FFF2-40B4-BE49-F238E27FC236}">
                <a16:creationId xmlns:a16="http://schemas.microsoft.com/office/drawing/2014/main" id="{F754F45B-0AD8-4717-BB8D-9350ABFA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5760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mapping.node-20">
            <a:extLst xmlns:a="http://schemas.openxmlformats.org/drawingml/2006/main">
              <a:ext uri="{FF2B5EF4-FFF2-40B4-BE49-F238E27FC236}">
                <a16:creationId xmlns:a16="http://schemas.microsoft.com/office/drawing/2014/main" id="{E12480CB-345A-4535-92C6-7F05042A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365760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mapping.node-21">
            <a:extLst xmlns:a="http://schemas.openxmlformats.org/drawingml/2006/main">
              <a:ext uri="{FF2B5EF4-FFF2-40B4-BE49-F238E27FC236}">
                <a16:creationId xmlns:a16="http://schemas.microsoft.com/office/drawing/2014/main" id="{449D55AD-980A-46A4-A93E-04F3795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365760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mapping.node-22">
            <a:extLst xmlns:a="http://schemas.openxmlformats.org/drawingml/2006/main">
              <a:ext uri="{FF2B5EF4-FFF2-40B4-BE49-F238E27FC236}">
                <a16:creationId xmlns:a16="http://schemas.microsoft.com/office/drawing/2014/main" id="{768FC051-25E8-4497-BFB1-686ECD1A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365760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mapping.node-23">
            <a:extLst xmlns:a="http://schemas.openxmlformats.org/drawingml/2006/main">
              <a:ext uri="{FF2B5EF4-FFF2-40B4-BE49-F238E27FC236}">
                <a16:creationId xmlns:a16="http://schemas.microsoft.com/office/drawing/2014/main" id="{B900199B-210B-4F5D-9826-39D1E0E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65760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mapping.node-24">
            <a:extLst xmlns:a="http://schemas.openxmlformats.org/drawingml/2006/main">
              <a:ext uri="{FF2B5EF4-FFF2-40B4-BE49-F238E27FC236}">
                <a16:creationId xmlns:a16="http://schemas.microsoft.com/office/drawing/2014/main" id="{54FEB998-5DD4-4605-B502-23BA3E6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3382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mapping.node-25">
            <a:extLst xmlns:a="http://schemas.openxmlformats.org/drawingml/2006/main">
              <a:ext uri="{FF2B5EF4-FFF2-40B4-BE49-F238E27FC236}">
                <a16:creationId xmlns:a16="http://schemas.microsoft.com/office/drawing/2014/main" id="{180F2CAA-8D61-4719-837E-DE05CAA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393382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mapping.node-26">
            <a:extLst xmlns:a="http://schemas.openxmlformats.org/drawingml/2006/main">
              <a:ext uri="{FF2B5EF4-FFF2-40B4-BE49-F238E27FC236}">
                <a16:creationId xmlns:a16="http://schemas.microsoft.com/office/drawing/2014/main" id="{51E82DF6-DD60-40DA-8A0A-946D2728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393382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mapping.node-27">
            <a:extLst xmlns:a="http://schemas.openxmlformats.org/drawingml/2006/main">
              <a:ext uri="{FF2B5EF4-FFF2-40B4-BE49-F238E27FC236}">
                <a16:creationId xmlns:a16="http://schemas.microsoft.com/office/drawing/2014/main" id="{C8045E83-392E-4A4F-88D6-9B20A1EF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393382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mapping.node-28">
            <a:extLst xmlns:a="http://schemas.openxmlformats.org/drawingml/2006/main">
              <a:ext uri="{FF2B5EF4-FFF2-40B4-BE49-F238E27FC236}">
                <a16:creationId xmlns:a16="http://schemas.microsoft.com/office/drawing/2014/main" id="{FE646415-424A-4262-83E8-3F5E57B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933825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mapping.node-29">
            <a:extLst xmlns:a="http://schemas.openxmlformats.org/drawingml/2006/main">
              <a:ext uri="{FF2B5EF4-FFF2-40B4-BE49-F238E27FC236}">
                <a16:creationId xmlns:a16="http://schemas.microsoft.com/office/drawing/2014/main" id="{CEA65D7C-7D8F-4649-AB40-C1B62FA2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100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mapping.node-30">
            <a:extLst xmlns:a="http://schemas.openxmlformats.org/drawingml/2006/main">
              <a:ext uri="{FF2B5EF4-FFF2-40B4-BE49-F238E27FC236}">
                <a16:creationId xmlns:a16="http://schemas.microsoft.com/office/drawing/2014/main" id="{CAB98545-190A-4D39-9B6F-3AC3E14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42100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mapping.node-31">
            <a:extLst xmlns:a="http://schemas.openxmlformats.org/drawingml/2006/main">
              <a:ext uri="{FF2B5EF4-FFF2-40B4-BE49-F238E27FC236}">
                <a16:creationId xmlns:a16="http://schemas.microsoft.com/office/drawing/2014/main" id="{B4F1C67F-45AD-4066-ACB4-D647422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42100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mapping.node-32">
            <a:extLst xmlns:a="http://schemas.openxmlformats.org/drawingml/2006/main">
              <a:ext uri="{FF2B5EF4-FFF2-40B4-BE49-F238E27FC236}">
                <a16:creationId xmlns:a16="http://schemas.microsoft.com/office/drawing/2014/main" id="{FF98E3DF-794F-4168-98A1-00526CE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2100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mapping.node-33">
            <a:extLst xmlns:a="http://schemas.openxmlformats.org/drawingml/2006/main">
              <a:ext uri="{FF2B5EF4-FFF2-40B4-BE49-F238E27FC236}">
                <a16:creationId xmlns:a16="http://schemas.microsoft.com/office/drawing/2014/main" id="{176A1107-F7FA-42BA-8EDC-8BEB97C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210050"/>
            <a:ext cx="483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mapping.text-34">
            <a:extLst xmlns:a="http://schemas.openxmlformats.org/drawingml/2006/main">
              <a:ext uri="{FF2B5EF4-FFF2-40B4-BE49-F238E27FC236}">
                <a16:creationId xmlns:a16="http://schemas.microsoft.com/office/drawing/2014/main" id="{6D070D3D-3768-4E2E-8B59-5FE25FCE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62500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每行：同一场景的负荷</a:t>
            </a:r>
          </a:p>
        </p:txBody>
      </p:sp>
      <p:sp>
        <p:nvSpPr>
          <p:cNvPr id="36" name="mapping.node-35">
            <a:extLst xmlns:a="http://schemas.openxmlformats.org/drawingml/2006/main">
              <a:ext uri="{FF2B5EF4-FFF2-40B4-BE49-F238E27FC236}">
                <a16:creationId xmlns:a16="http://schemas.microsoft.com/office/drawing/2014/main" id="{D83F606F-FA7D-4F2C-A523-00A5ED8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57375"/>
            <a:ext cx="5162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mapping.node-36">
            <a:extLst xmlns:a="http://schemas.openxmlformats.org/drawingml/2006/main">
              <a:ext uri="{FF2B5EF4-FFF2-40B4-BE49-F238E27FC236}">
                <a16:creationId xmlns:a16="http://schemas.microsoft.com/office/drawing/2014/main" id="{784165D6-F4AD-45F5-85EC-75180E5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57375"/>
            <a:ext cx="516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参数化映射 fω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2BE0DE-1601-40B8-A579-F965825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2822121"/>
            <a:ext cx="1406525" cy="1039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5AA2ED-E41C-483C-A791-9956CDD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2926080"/>
            <a:ext cx="1406525" cy="155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A6E8FA-E88E-4760-8CAD-85FD7804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2926080"/>
            <a:ext cx="1406525" cy="415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495C0-D56A-4557-87A6-C4E222D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2926080"/>
            <a:ext cx="1406525" cy="675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369656-1709-4BB8-9D4C-362E767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2926080"/>
            <a:ext cx="1406525" cy="9356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E16C15-86EB-425D-83B3-C62214D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2926080"/>
            <a:ext cx="1406525" cy="11955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81F129-455A-4232-86A3-1CB8B970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2822121"/>
            <a:ext cx="1406525" cy="467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F2E343-4E18-4084-8401-2AC28C33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082018"/>
            <a:ext cx="1406525" cy="20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B444BE-E0B8-44E0-A723-F9D1B1F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289935"/>
            <a:ext cx="1406525" cy="519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9462F9-FAD3-4A81-94F1-75E97E6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289935"/>
            <a:ext cx="1406525" cy="311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163335-D9BE-4145-A19D-77DB6EB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289935"/>
            <a:ext cx="1406525" cy="571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00FC0-AC83-4135-80E1-73649702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289935"/>
            <a:ext cx="1406525" cy="83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458C5C-F4A2-4A4F-A1B9-F988AAC0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2822121"/>
            <a:ext cx="1406525" cy="83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869172-1862-420E-B15C-EF9EFF3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082018"/>
            <a:ext cx="1406525" cy="571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238E9E-894B-4A6A-B544-CF40CD9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341914"/>
            <a:ext cx="1406525" cy="311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69320A-D841-4039-8545-A397C7EE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601811"/>
            <a:ext cx="1406525" cy="519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77CE9C-E7FF-49F1-AE59-D90610C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653790"/>
            <a:ext cx="1406525" cy="20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7FD695-CFCD-4E8F-B867-9AC158A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3653790"/>
            <a:ext cx="1406525" cy="467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E350AD-3CD4-431F-922D-6D1D40B3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2822121"/>
            <a:ext cx="1406525" cy="11955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CC6C6A-2BD6-4FFE-BF43-7B7D2F0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082018"/>
            <a:ext cx="1406525" cy="9356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A124D9-9262-411C-B997-CF377B7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341914"/>
            <a:ext cx="1406525" cy="675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53F034-E42C-4867-871A-C9CE4D2C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601811"/>
            <a:ext cx="1406525" cy="415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BB48FA-5DED-4944-9C44-4CE52B8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57825" y="3861707"/>
            <a:ext cx="1406525" cy="155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4A9F0B-6C86-49A1-835B-79964D8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7825" y="4017645"/>
            <a:ext cx="1406525" cy="1039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C05414-ACD6-4A51-A8BA-316824F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2822121"/>
            <a:ext cx="1406525" cy="433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E2154C-F3E1-4F6F-903D-90E189E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2822121"/>
            <a:ext cx="1406525" cy="3465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FB6BC3-00F6-4497-AEA6-42DD340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2822121"/>
            <a:ext cx="1406525" cy="6497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033834-6C4D-4C39-BD63-CB482480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2822121"/>
            <a:ext cx="1406525" cy="95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558389-8F5D-496B-A2DB-2B95FC91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2822121"/>
            <a:ext cx="1406525" cy="1256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D57459-1BF5-47F4-A708-F1B7CD1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2865438"/>
            <a:ext cx="1406525" cy="216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4DDB40-7533-4408-AFBA-3B61B9D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082018"/>
            <a:ext cx="1406525" cy="86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A76FD5-0FBA-4ED1-B48A-39221676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082018"/>
            <a:ext cx="1406525" cy="389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DAA6BF-48CF-4768-85AD-65241A6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082018"/>
            <a:ext cx="1406525" cy="6930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5CE4DA-61C2-47F8-B6E4-323B43A1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082018"/>
            <a:ext cx="1406525" cy="996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365E1B-024F-468E-9580-CA02DBA9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2865438"/>
            <a:ext cx="1406525" cy="4764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9D5F42-6B2A-4DB2-B7C7-DD5BBC6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168650"/>
            <a:ext cx="1406525" cy="173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1BA09F-9F09-42DF-A9AB-AD26A14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341914"/>
            <a:ext cx="1406525" cy="129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2BA81E-846E-4E51-84C4-A62194CA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341914"/>
            <a:ext cx="1406525" cy="433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F096C6-2F88-45B2-995A-C0C97B9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341914"/>
            <a:ext cx="1406525" cy="736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71EDBA-BD10-46F8-83E7-7F455DFA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2865438"/>
            <a:ext cx="1406525" cy="736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54905B-D44D-48C6-8477-F61E0B6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168650"/>
            <a:ext cx="1406525" cy="433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071117-110F-41FF-87DA-89903267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471863"/>
            <a:ext cx="1406525" cy="129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D9654C-21ED-4214-8CA2-0A35167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601811"/>
            <a:ext cx="1406525" cy="173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37FD41-46C2-4622-9DF0-C533DA56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601811"/>
            <a:ext cx="1406525" cy="4764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6C2CE2D-E960-4667-88FE-8A0C0BE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2865438"/>
            <a:ext cx="1406525" cy="996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25FB02-15FB-4EF6-8606-39B8CF9B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168650"/>
            <a:ext cx="1406525" cy="6930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EB8D342-85A1-4B33-8BEB-41D96A25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471863"/>
            <a:ext cx="1406525" cy="389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91283B-D740-4DD8-BA56-E1880F3E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775075"/>
            <a:ext cx="1406525" cy="86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6BBFB1-1D8D-4F98-9584-AD435F4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4350" y="3861707"/>
            <a:ext cx="1406525" cy="216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50D115-39EB-4EF0-A435-AE4F48EC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2865438"/>
            <a:ext cx="1406525" cy="1256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B31D38-5C39-4537-8D1D-05E1028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168650"/>
            <a:ext cx="1406525" cy="95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9CF06C-5B0A-435E-9077-4C5A9EAA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471863"/>
            <a:ext cx="1406525" cy="6497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16D7978-CEBE-4B9A-8E2D-EF13281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3775075"/>
            <a:ext cx="1406525" cy="3465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CB34B8C-B151-4B14-A816-73C4C76A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64350" y="4078287"/>
            <a:ext cx="1406525" cy="433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3F3BA2-2876-4462-9A21-CD9BEEEC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2865438"/>
            <a:ext cx="1406525" cy="151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4D57E6-07A6-47FA-95DE-01662A2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2865438"/>
            <a:ext cx="1406525" cy="606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E83CD9E-E295-4954-A8AA-9168110E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2865438"/>
            <a:ext cx="1406525" cy="1061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69FB02-4657-4CF3-9688-B8386000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017044"/>
            <a:ext cx="1406525" cy="151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50681C-5D0B-44A9-8B75-474CFF6D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3168650"/>
            <a:ext cx="1406525" cy="3032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52AC07-1331-46FA-9FD7-51C264F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3168650"/>
            <a:ext cx="1406525" cy="758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E8772A6-BF92-41F7-B681-9E6EE22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017044"/>
            <a:ext cx="1406525" cy="454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F1E531-1293-4B95-B6F5-B910FA5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3471863"/>
            <a:ext cx="1406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F37DE5-ACEE-4249-8321-CE8ABCE6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3471863"/>
            <a:ext cx="1406525" cy="454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A21DC29-74D2-43D3-8B74-B6D21C0E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017044"/>
            <a:ext cx="1406525" cy="758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38ED3D-49A5-4998-B59C-317CAA9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471863"/>
            <a:ext cx="1406525" cy="3032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63914AE-8433-4FA0-9CE3-57602F4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3775075"/>
            <a:ext cx="1406525" cy="151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D0A400-20AF-4925-9393-3C7E056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017044"/>
            <a:ext cx="1406525" cy="1061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EA6403-A34F-4CFD-AF67-0E346CD7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471863"/>
            <a:ext cx="1406525" cy="606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0BD3E8-02B0-45E0-86BC-68E35CD9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926681"/>
            <a:ext cx="1406525" cy="151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DD0"/>
            </a:solidFill>
          </a:ln>
        </p:spPr>
      </p:sp>
      <p:sp>
        <p:nvSpPr>
          <p:cNvPr id="107" name="mapping.node-37">
            <a:extLst xmlns:a="http://schemas.openxmlformats.org/drawingml/2006/main">
              <a:ext uri="{FF2B5EF4-FFF2-40B4-BE49-F238E27FC236}">
                <a16:creationId xmlns:a16="http://schemas.microsoft.com/office/drawing/2014/main" id="{79F16E34-86F0-4741-AB9A-93A3785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083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mapping.node-38">
            <a:extLst xmlns:a="http://schemas.openxmlformats.org/drawingml/2006/main">
              <a:ext uri="{FF2B5EF4-FFF2-40B4-BE49-F238E27FC236}">
                <a16:creationId xmlns:a16="http://schemas.microsoft.com/office/drawing/2014/main" id="{4B65DAC6-8ACA-496B-9889-A4EA6113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9468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mapping.node-39">
            <a:extLst xmlns:a="http://schemas.openxmlformats.org/drawingml/2006/main">
              <a:ext uri="{FF2B5EF4-FFF2-40B4-BE49-F238E27FC236}">
                <a16:creationId xmlns:a16="http://schemas.microsoft.com/office/drawing/2014/main" id="{3D5D26D1-E807-4202-849E-4525D97D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55854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mapping.node-40">
            <a:extLst xmlns:a="http://schemas.openxmlformats.org/drawingml/2006/main">
              <a:ext uri="{FF2B5EF4-FFF2-40B4-BE49-F238E27FC236}">
                <a16:creationId xmlns:a16="http://schemas.microsoft.com/office/drawing/2014/main" id="{55B89247-721B-4296-9FAC-21AEF9AA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2239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mapping.node-41">
            <a:extLst xmlns:a="http://schemas.openxmlformats.org/drawingml/2006/main">
              <a:ext uri="{FF2B5EF4-FFF2-40B4-BE49-F238E27FC236}">
                <a16:creationId xmlns:a16="http://schemas.microsoft.com/office/drawing/2014/main" id="{77A363A8-D773-48CA-8D25-1BF5DC2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72687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mapping.node-42">
            <a:extLst xmlns:a="http://schemas.openxmlformats.org/drawingml/2006/main">
              <a:ext uri="{FF2B5EF4-FFF2-40B4-BE49-F238E27FC236}">
                <a16:creationId xmlns:a16="http://schemas.microsoft.com/office/drawing/2014/main" id="{D4B2A502-374C-49BF-B97B-C88D4DDA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98676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3" name="mapping.node-43">
            <a:extLst xmlns:a="http://schemas.openxmlformats.org/drawingml/2006/main">
              <a:ext uri="{FF2B5EF4-FFF2-40B4-BE49-F238E27FC236}">
                <a16:creationId xmlns:a16="http://schemas.microsoft.com/office/drawing/2014/main" id="{E47766C3-8718-4E50-92DB-C07496F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246664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mapping.node-44">
            <a:extLst xmlns:a="http://schemas.openxmlformats.org/drawingml/2006/main">
              <a:ext uri="{FF2B5EF4-FFF2-40B4-BE49-F238E27FC236}">
                <a16:creationId xmlns:a16="http://schemas.microsoft.com/office/drawing/2014/main" id="{8F8585D4-FBF5-4350-BF11-3E975448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50656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5" name="mapping.node-45">
            <a:extLst xmlns:a="http://schemas.openxmlformats.org/drawingml/2006/main">
              <a:ext uri="{FF2B5EF4-FFF2-40B4-BE49-F238E27FC236}">
                <a16:creationId xmlns:a16="http://schemas.microsoft.com/office/drawing/2014/main" id="{DE8110C9-C182-4320-B52E-C109DFC2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76645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mapping.node-46">
            <a:extLst xmlns:a="http://schemas.openxmlformats.org/drawingml/2006/main">
              <a:ext uri="{FF2B5EF4-FFF2-40B4-BE49-F238E27FC236}">
                <a16:creationId xmlns:a16="http://schemas.microsoft.com/office/drawing/2014/main" id="{94E18430-8642-452E-893D-A99AE18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026354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mapping.node-47">
            <a:extLst xmlns:a="http://schemas.openxmlformats.org/drawingml/2006/main">
              <a:ext uri="{FF2B5EF4-FFF2-40B4-BE49-F238E27FC236}">
                <a16:creationId xmlns:a16="http://schemas.microsoft.com/office/drawing/2014/main" id="{9ED4C48B-0547-4E1C-8067-2E0D6F6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277018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mapping.node-48">
            <a:extLst xmlns:a="http://schemas.openxmlformats.org/drawingml/2006/main">
              <a:ext uri="{FF2B5EF4-FFF2-40B4-BE49-F238E27FC236}">
                <a16:creationId xmlns:a16="http://schemas.microsoft.com/office/drawing/2014/main" id="{BAFF5430-0408-474B-89D9-1391682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073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mapping.node-49">
            <a:extLst xmlns:a="http://schemas.openxmlformats.org/drawingml/2006/main">
              <a:ext uri="{FF2B5EF4-FFF2-40B4-BE49-F238E27FC236}">
                <a16:creationId xmlns:a16="http://schemas.microsoft.com/office/drawing/2014/main" id="{A69715F7-8CC6-42F5-8E72-94B6B09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37661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mapping.node-50">
            <a:extLst xmlns:a="http://schemas.openxmlformats.org/drawingml/2006/main">
              <a:ext uri="{FF2B5EF4-FFF2-40B4-BE49-F238E27FC236}">
                <a16:creationId xmlns:a16="http://schemas.microsoft.com/office/drawing/2014/main" id="{150365C8-9256-42DD-9210-80D60D8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679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mapping.node-51">
            <a:extLst xmlns:a="http://schemas.openxmlformats.org/drawingml/2006/main">
              <a:ext uri="{FF2B5EF4-FFF2-40B4-BE49-F238E27FC236}">
                <a16:creationId xmlns:a16="http://schemas.microsoft.com/office/drawing/2014/main" id="{F125D2C0-354D-41F4-9D53-4774228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98303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mapping.node-52">
            <a:extLst xmlns:a="http://schemas.openxmlformats.org/drawingml/2006/main">
              <a:ext uri="{FF2B5EF4-FFF2-40B4-BE49-F238E27FC236}">
                <a16:creationId xmlns:a16="http://schemas.microsoft.com/office/drawing/2014/main" id="{70C2660D-C261-49C6-A555-C9757E01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21794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mapping.node-53">
            <a:extLst xmlns:a="http://schemas.openxmlformats.org/drawingml/2006/main">
              <a:ext uri="{FF2B5EF4-FFF2-40B4-BE49-F238E27FC236}">
                <a16:creationId xmlns:a16="http://schemas.microsoft.com/office/drawing/2014/main" id="{D8F86154-C96C-42F3-8445-2F49F49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7661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mapping.node-54">
            <a:extLst xmlns:a="http://schemas.openxmlformats.org/drawingml/2006/main">
              <a:ext uri="{FF2B5EF4-FFF2-40B4-BE49-F238E27FC236}">
                <a16:creationId xmlns:a16="http://schemas.microsoft.com/office/drawing/2014/main" id="{6765A964-5E7C-4626-9BFB-237BDAF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3143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mapping.text-55">
            <a:extLst xmlns:a="http://schemas.openxmlformats.org/drawingml/2006/main">
              <a:ext uri="{FF2B5EF4-FFF2-40B4-BE49-F238E27FC236}">
                <a16:creationId xmlns:a16="http://schemas.microsoft.com/office/drawing/2014/main" id="{4307C860-6A39-4BE6-878F-84618B81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38675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ReLU隐藏层 → Sigmoid输出</a:t>
            </a:r>
          </a:p>
        </p:txBody>
      </p:sp>
      <p:sp>
        <p:nvSpPr>
          <p:cNvPr id="126" name="mapping.node-56">
            <a:extLst xmlns:a="http://schemas.openxmlformats.org/drawingml/2006/main">
              <a:ext uri="{FF2B5EF4-FFF2-40B4-BE49-F238E27FC236}">
                <a16:creationId xmlns:a16="http://schemas.microsoft.com/office/drawing/2014/main" id="{228B69A2-A11B-46A1-999F-97AE2EDE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857375"/>
            <a:ext cx="3524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mapping.node-57">
            <a:extLst xmlns:a="http://schemas.openxmlformats.org/drawingml/2006/main">
              <a:ext uri="{FF2B5EF4-FFF2-40B4-BE49-F238E27FC236}">
                <a16:creationId xmlns:a16="http://schemas.microsoft.com/office/drawing/2014/main" id="{1F449A57-DAE2-4FA1-86CB-F644126C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85737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预测目标 Y</a:t>
            </a:r>
          </a:p>
        </p:txBody>
      </p:sp>
      <p:sp>
        <p:nvSpPr>
          <p:cNvPr id="128" name="mapping.text-58">
            <a:extLst xmlns:a="http://schemas.openxmlformats.org/drawingml/2006/main">
              <a:ext uri="{FF2B5EF4-FFF2-40B4-BE49-F238E27FC236}">
                <a16:creationId xmlns:a16="http://schemas.microsoft.com/office/drawing/2014/main" id="{43E6CB51-9C96-45C9-9B6D-C8B8107F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8130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PV母线：Pᴳ、|V|</a:t>
            </a:r>
          </a:p>
          <a:p xmlns:a="http://schemas.openxmlformats.org/drawingml/2006/main">
            <a:pPr algn="ctr">
              <a:def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平衡母线：|V₀|</a:t>
            </a:r>
          </a:p>
        </p:txBody>
      </p:sp>
      <p:sp>
        <p:nvSpPr>
          <p:cNvPr id="129" name="mapping.text-59">
            <a:extLst xmlns:a="http://schemas.openxmlformats.org/drawingml/2006/main">
              <a:ext uri="{FF2B5EF4-FFF2-40B4-BE49-F238E27FC236}">
                <a16:creationId xmlns:a16="http://schemas.microsoft.com/office/drawing/2014/main" id="{4278BC28-4454-4D4C-8036-F2ED960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467225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部分变量由物理方程恢复</a:t>
            </a:r>
          </a:p>
        </p:txBody>
      </p:sp>
      <p:sp>
        <p:nvSpPr>
          <p:cNvPr id="130" name="mapping.node-60">
            <a:extLst xmlns:a="http://schemas.openxmlformats.org/drawingml/2006/main">
              <a:ext uri="{FF2B5EF4-FFF2-40B4-BE49-F238E27FC236}">
                <a16:creationId xmlns:a16="http://schemas.microsoft.com/office/drawing/2014/main" id="{49CFD22F-B1BD-40D5-99B0-B64B29FF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05475"/>
            <a:ext cx="47148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输入—标签一一对应</a:t>
            </a:r>
          </a:p>
        </p:txBody>
      </p:sp>
      <p:sp>
        <p:nvSpPr>
          <p:cNvPr id="131" name="mapping.node-61">
            <a:extLst xmlns:a="http://schemas.openxmlformats.org/drawingml/2006/main">
              <a:ext uri="{FF2B5EF4-FFF2-40B4-BE49-F238E27FC236}">
                <a16:creationId xmlns:a16="http://schemas.microsoft.com/office/drawing/2014/main" id="{EEABED67-DD6F-42AE-BF2E-C9DAC6C4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05475"/>
            <a:ext cx="40862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Pypower参考解</a:t>
            </a:r>
          </a:p>
        </p:txBody>
      </p:sp>
      <p:sp>
        <p:nvSpPr>
          <p:cNvPr id="132" name="mapping.node-62">
            <a:extLst xmlns:a="http://schemas.openxmlformats.org/drawingml/2006/main">
              <a:ext uri="{FF2B5EF4-FFF2-40B4-BE49-F238E27FC236}">
                <a16:creationId xmlns:a16="http://schemas.microsoft.com/office/drawing/2014/main" id="{BC94892A-71F2-470E-8135-0CCE315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05475"/>
            <a:ext cx="4029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独立测试与约束评价</a:t>
            </a:r>
          </a:p>
        </p:txBody>
      </p:sp>
      <p:sp>
        <p:nvSpPr>
          <p:cNvPr id="135" name="mapping.node-63">
            <a:extLst xmlns:a="http://schemas.openxmlformats.org/drawingml/2006/main">
              <a:ext uri="{FF2B5EF4-FFF2-40B4-BE49-F238E27FC236}">
                <a16:creationId xmlns:a16="http://schemas.microsoft.com/office/drawing/2014/main" id="{F5224E17-7D5A-4923-8428-B8279820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819900"/>
            <a:ext cx="1148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条件：网络拓扑、设备参数、运行限值与成本函数保持对应</a:t>
            </a:r>
          </a:p>
        </p:txBody>
      </p:sp>
    </p:spTree>
    <p:extLst>
      <p:ext uri="{BB962C8B-B14F-4D97-AF65-F5344CB8AC3E}">
        <p14:creationId xmlns:p14="http://schemas.microsoft.com/office/powerpoint/2010/main" val="1049950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665FB-5428-4E30-BD50-3AC9AA2257D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410825" y="61722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398B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50A9E-0AFA-4643-8C06-2C52D7AF7A69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200775" y="617220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398B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83813-A8DC-46DD-B2BC-0CC2BE7DE82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410825" y="45053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05CB6-79F6-463F-9208-5776F46CCE5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200775" y="450532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81644-0DB1-4F77-A322-332996B00B1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10825" y="28384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BC1B9-7BE8-4C06-B58E-2616ED06803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00775" y="28384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sp>
        <p:nvSpPr>
          <p:cNvPr id="25" name="method-options.node-1">
            <a:extLst xmlns:a="http://schemas.openxmlformats.org/drawingml/2006/main">
              <a:ext uri="{FF2B5EF4-FFF2-40B4-BE49-F238E27FC236}">
                <a16:creationId xmlns:a16="http://schemas.microsoft.com/office/drawing/2014/main" id="{8CFB22CB-B090-4B69-A6A8-F3F83FA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method-options.title">
            <a:extLst xmlns:a="http://schemas.openxmlformats.org/drawingml/2006/main">
              <a:ext uri="{FF2B5EF4-FFF2-40B4-BE49-F238E27FC236}">
                <a16:creationId xmlns:a16="http://schemas.microsoft.com/office/drawing/2014/main" id="{A0B04FAD-DA22-4331-B89F-BAE803A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学习方法在求解流程中的位置</a:t>
            </a:r>
          </a:p>
        </p:txBody>
      </p:sp>
      <p:sp>
        <p:nvSpPr>
          <p:cNvPr id="3" name="method-options.text-2">
            <a:extLst xmlns:a="http://schemas.openxmlformats.org/drawingml/2006/main">
              <a:ext uri="{FF2B5EF4-FFF2-40B4-BE49-F238E27FC236}">
                <a16:creationId xmlns:a16="http://schemas.microsoft.com/office/drawing/2014/main" id="{94589B7D-72FE-405D-9EAB-91A76CBB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学习可以提供初值，也可以预测变量后接入物理重构</a:t>
            </a:r>
          </a:p>
        </p:txBody>
      </p:sp>
      <p:sp>
        <p:nvSpPr>
          <p:cNvPr id="4" name="method-options.text-3">
            <a:extLst xmlns:a="http://schemas.openxmlformats.org/drawingml/2006/main">
              <a:ext uri="{FF2B5EF4-FFF2-40B4-BE49-F238E27FC236}">
                <a16:creationId xmlns:a16="http://schemas.microsoft.com/office/drawing/2014/main" id="{909D5713-CD80-4831-96C4-D9ECCA8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method-options.text-4">
            <a:extLst xmlns:a="http://schemas.openxmlformats.org/drawingml/2006/main">
              <a:ext uri="{FF2B5EF4-FFF2-40B4-BE49-F238E27FC236}">
                <a16:creationId xmlns:a16="http://schemas.microsoft.com/office/drawing/2014/main" id="{473DC668-C7FE-4A0A-AB86-E5A2A01B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§II、§VI-A；DeepOPF-V §I · 原创比较</a:t>
            </a:r>
          </a:p>
        </p:txBody>
      </p:sp>
      <p:sp>
        <p:nvSpPr>
          <p:cNvPr id="6" name="method-options.text-5">
            <a:extLst xmlns:a="http://schemas.openxmlformats.org/drawingml/2006/main">
              <a:ext uri="{FF2B5EF4-FFF2-40B4-BE49-F238E27FC236}">
                <a16:creationId xmlns:a16="http://schemas.microsoft.com/office/drawing/2014/main" id="{252A8D54-DA71-43C4-803B-62E0E57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method-options.text-6">
            <a:extLst xmlns:a="http://schemas.openxmlformats.org/drawingml/2006/main">
              <a:ext uri="{FF2B5EF4-FFF2-40B4-BE49-F238E27FC236}">
                <a16:creationId xmlns:a16="http://schemas.microsoft.com/office/drawing/2014/main" id="{E0A8D927-6A19-4C38-A4E8-C07F341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传统求解</a:t>
            </a:r>
          </a:p>
        </p:txBody>
      </p:sp>
      <p:sp>
        <p:nvSpPr>
          <p:cNvPr id="8" name="method-options.node-7">
            <a:extLst xmlns:a="http://schemas.openxmlformats.org/drawingml/2006/main">
              <a:ext uri="{FF2B5EF4-FFF2-40B4-BE49-F238E27FC236}">
                <a16:creationId xmlns:a16="http://schemas.microsoft.com/office/drawing/2014/main" id="{068A1E50-CA53-460E-AA8A-85072F7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负荷与网络</a:t>
            </a:r>
          </a:p>
        </p:txBody>
      </p:sp>
      <p:sp>
        <p:nvSpPr>
          <p:cNvPr id="9" name="method-options.node-8">
            <a:extLst xmlns:a="http://schemas.openxmlformats.org/drawingml/2006/main">
              <a:ext uri="{FF2B5EF4-FFF2-40B4-BE49-F238E27FC236}">
                <a16:creationId xmlns:a16="http://schemas.microsoft.com/office/drawing/2014/main" id="{D520C3E2-B2AF-4E43-926B-F7DA107C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32289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迭代优化</a:t>
            </a:r>
          </a:p>
        </p:txBody>
      </p:sp>
      <p:sp>
        <p:nvSpPr>
          <p:cNvPr id="10" name="method-options.node-9">
            <a:extLst xmlns:a="http://schemas.openxmlformats.org/drawingml/2006/main">
              <a:ext uri="{FF2B5EF4-FFF2-40B4-BE49-F238E27FC236}">
                <a16:creationId xmlns:a16="http://schemas.microsoft.com/office/drawing/2014/main" id="{5D1681D9-2A99-48DD-B4C6-54DAA651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381250"/>
            <a:ext cx="3133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完整运行解</a:t>
            </a:r>
          </a:p>
        </p:txBody>
      </p:sp>
      <p:sp>
        <p:nvSpPr>
          <p:cNvPr id="13" name="method-options.text-10">
            <a:extLst xmlns:a="http://schemas.openxmlformats.org/drawingml/2006/main">
              <a:ext uri="{FF2B5EF4-FFF2-40B4-BE49-F238E27FC236}">
                <a16:creationId xmlns:a16="http://schemas.microsoft.com/office/drawing/2014/main" id="{8D1B2915-5BBD-4E9B-ACA3-BA082BD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学习热启动</a:t>
            </a:r>
          </a:p>
        </p:txBody>
      </p:sp>
      <p:sp>
        <p:nvSpPr>
          <p:cNvPr id="14" name="method-options.node-11">
            <a:extLst xmlns:a="http://schemas.openxmlformats.org/drawingml/2006/main">
              <a:ext uri="{FF2B5EF4-FFF2-40B4-BE49-F238E27FC236}">
                <a16:creationId xmlns:a16="http://schemas.microsoft.com/office/drawing/2014/main" id="{68FE2C99-0A26-423C-8ECB-28B4171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481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负荷与网络</a:t>
            </a:r>
          </a:p>
        </p:txBody>
      </p:sp>
      <p:sp>
        <p:nvSpPr>
          <p:cNvPr id="15" name="method-options.node-12">
            <a:extLst xmlns:a="http://schemas.openxmlformats.org/drawingml/2006/main">
              <a:ext uri="{FF2B5EF4-FFF2-40B4-BE49-F238E27FC236}">
                <a16:creationId xmlns:a16="http://schemas.microsoft.com/office/drawing/2014/main" id="{894D1E57-3003-4471-8387-432C6EB0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48125"/>
            <a:ext cx="32289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网络给初值</a:t>
            </a:r>
          </a:p>
        </p:txBody>
      </p:sp>
      <p:sp>
        <p:nvSpPr>
          <p:cNvPr id="16" name="method-options.node-13">
            <a:extLst xmlns:a="http://schemas.openxmlformats.org/drawingml/2006/main">
              <a:ext uri="{FF2B5EF4-FFF2-40B4-BE49-F238E27FC236}">
                <a16:creationId xmlns:a16="http://schemas.microsoft.com/office/drawing/2014/main" id="{4795C781-0208-4682-83F7-813FCFEC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048125"/>
            <a:ext cx="3133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求解器完成优化</a:t>
            </a:r>
          </a:p>
        </p:txBody>
      </p:sp>
      <p:sp>
        <p:nvSpPr>
          <p:cNvPr id="19" name="method-options.text-14">
            <a:extLst xmlns:a="http://schemas.openxmlformats.org/drawingml/2006/main">
              <a:ext uri="{FF2B5EF4-FFF2-40B4-BE49-F238E27FC236}">
                <a16:creationId xmlns:a16="http://schemas.microsoft.com/office/drawing/2014/main" id="{4E8C4F65-BB30-491C-8AF4-F79F0B4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预测与重构</a:t>
            </a:r>
          </a:p>
        </p:txBody>
      </p:sp>
      <p:sp>
        <p:nvSpPr>
          <p:cNvPr id="20" name="method-options.node-15">
            <a:extLst xmlns:a="http://schemas.openxmlformats.org/drawingml/2006/main">
              <a:ext uri="{FF2B5EF4-FFF2-40B4-BE49-F238E27FC236}">
                <a16:creationId xmlns:a16="http://schemas.microsoft.com/office/drawing/2014/main" id="{5657F0B9-C32B-4C76-88EE-498176A5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7150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负荷与网络</a:t>
            </a:r>
          </a:p>
        </p:txBody>
      </p:sp>
      <p:sp>
        <p:nvSpPr>
          <p:cNvPr id="21" name="method-options.node-16">
            <a:extLst xmlns:a="http://schemas.openxmlformats.org/drawingml/2006/main">
              <a:ext uri="{FF2B5EF4-FFF2-40B4-BE49-F238E27FC236}">
                <a16:creationId xmlns:a16="http://schemas.microsoft.com/office/drawing/2014/main" id="{66CBE1C3-90D8-4198-B073-22D208B9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15000"/>
            <a:ext cx="32289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预测独立变量</a:t>
            </a:r>
          </a:p>
        </p:txBody>
      </p:sp>
      <p:sp>
        <p:nvSpPr>
          <p:cNvPr id="22" name="method-options.node-17">
            <a:extLst xmlns:a="http://schemas.openxmlformats.org/drawingml/2006/main">
              <a:ext uri="{FF2B5EF4-FFF2-40B4-BE49-F238E27FC236}">
                <a16:creationId xmlns:a16="http://schemas.microsoft.com/office/drawing/2014/main" id="{F77D69ED-DB62-444B-9EFD-31E7005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715000"/>
            <a:ext cx="3133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潮流重构与约束检查</a:t>
            </a:r>
          </a:p>
        </p:txBody>
      </p:sp>
    </p:spTree>
    <p:extLst>
      <p:ext uri="{BB962C8B-B14F-4D97-AF65-F5344CB8AC3E}">
        <p14:creationId xmlns:p14="http://schemas.microsoft.com/office/powerpoint/2010/main" val="122990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3E4E9-BF91-43A5-8735-F03983E39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4c876377e483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architecture.node-18">
            <a:extLst xmlns:a="http://schemas.openxmlformats.org/drawingml/2006/main">
              <a:ext uri="{FF2B5EF4-FFF2-40B4-BE49-F238E27FC236}">
                <a16:creationId xmlns:a16="http://schemas.microsoft.com/office/drawing/2014/main" id="{3E834632-5245-4EAF-B0C0-154D799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architecture.title">
            <a:extLst xmlns:a="http://schemas.openxmlformats.org/drawingml/2006/main">
              <a:ext uri="{FF2B5EF4-FFF2-40B4-BE49-F238E27FC236}">
                <a16:creationId xmlns:a16="http://schemas.microsoft.com/office/drawing/2014/main" id="{DB7B433B-0FEE-48E0-B1BC-AD1AFCE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DeepOPF的总体研究架构</a:t>
            </a:r>
          </a:p>
        </p:txBody>
      </p:sp>
      <p:sp>
        <p:nvSpPr>
          <p:cNvPr id="4" name="architecture.text-19">
            <a:extLst xmlns:a="http://schemas.openxmlformats.org/drawingml/2006/main">
              <a:ext uri="{FF2B5EF4-FFF2-40B4-BE49-F238E27FC236}">
                <a16:creationId xmlns:a16="http://schemas.microsoft.com/office/drawing/2014/main" id="{C87DB271-5477-40B6-B785-0F77070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57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architecture.node-20">
            <a:extLst xmlns:a="http://schemas.openxmlformats.org/drawingml/2006/main">
              <a:ext uri="{FF2B5EF4-FFF2-40B4-BE49-F238E27FC236}">
                <a16:creationId xmlns:a16="http://schemas.microsoft.com/office/drawing/2014/main" id="{42335016-20BB-408F-8356-3B6837D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15325"/>
            <a:ext cx="15240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architecture.text-21">
            <a:extLst xmlns:a="http://schemas.openxmlformats.org/drawingml/2006/main">
              <a:ext uri="{FF2B5EF4-FFF2-40B4-BE49-F238E27FC236}">
                <a16:creationId xmlns:a16="http://schemas.microsoft.com/office/drawing/2014/main" id="{4347BAC0-689A-4FA4-81C6-E28D718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334375"/>
            <a:ext cx="1400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依据：DeepOPF v6 Fig.1、§IV · 原创机制示意，非实验结果</a:t>
            </a:r>
          </a:p>
        </p:txBody>
      </p:sp>
      <p:sp>
        <p:nvSpPr>
          <p:cNvPr id="7" name="architecture.text-22">
            <a:extLst xmlns:a="http://schemas.openxmlformats.org/drawingml/2006/main">
              <a:ext uri="{FF2B5EF4-FFF2-40B4-BE49-F238E27FC236}">
                <a16:creationId xmlns:a16="http://schemas.microsoft.com/office/drawing/2014/main" id="{728E2E7F-F3F8-4075-B418-E785C28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83248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2890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ariables.node-1">
            <a:extLst xmlns:a="http://schemas.openxmlformats.org/drawingml/2006/main">
              <a:ext uri="{FF2B5EF4-FFF2-40B4-BE49-F238E27FC236}">
                <a16:creationId xmlns:a16="http://schemas.microsoft.com/office/drawing/2014/main" id="{F92C9B97-576C-4F21-A67B-9357D4C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variables.title">
            <a:extLst xmlns:a="http://schemas.openxmlformats.org/drawingml/2006/main">
              <a:ext uri="{FF2B5EF4-FFF2-40B4-BE49-F238E27FC236}">
                <a16:creationId xmlns:a16="http://schemas.microsoft.com/office/drawing/2014/main" id="{9837B69B-4E5E-4014-BADD-82A1020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独立变量与重构变量</a:t>
            </a:r>
          </a:p>
        </p:txBody>
      </p:sp>
      <p:sp>
        <p:nvSpPr>
          <p:cNvPr id="3" name="variables.text-2">
            <a:extLst xmlns:a="http://schemas.openxmlformats.org/drawingml/2006/main">
              <a:ext uri="{FF2B5EF4-FFF2-40B4-BE49-F238E27FC236}">
                <a16:creationId xmlns:a16="http://schemas.microsoft.com/office/drawing/2014/main" id="{5CB6027D-AC0C-42CC-9367-FF6D47F2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先区分已知输入、网络预测和潮流求解得到的状态</a:t>
            </a:r>
          </a:p>
        </p:txBody>
      </p:sp>
      <p:sp>
        <p:nvSpPr>
          <p:cNvPr id="4" name="variables.text-3">
            <a:extLst xmlns:a="http://schemas.openxmlformats.org/drawingml/2006/main">
              <a:ext uri="{FF2B5EF4-FFF2-40B4-BE49-F238E27FC236}">
                <a16:creationId xmlns:a16="http://schemas.microsoft.com/office/drawing/2014/main" id="{28C2C13C-6B9F-4845-9E84-A0C693D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variables.text-4">
            <a:extLst xmlns:a="http://schemas.openxmlformats.org/drawingml/2006/main">
              <a:ext uri="{FF2B5EF4-FFF2-40B4-BE49-F238E27FC236}">
                <a16:creationId xmlns:a16="http://schemas.microsoft.com/office/drawing/2014/main" id="{83420B66-D9FC-4199-A741-06DA75C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Table II、§IV-C–D · 按实现描述组织</a:t>
            </a:r>
          </a:p>
        </p:txBody>
      </p:sp>
      <p:sp>
        <p:nvSpPr>
          <p:cNvPr id="6" name="variables.text-5">
            <a:extLst xmlns:a="http://schemas.openxmlformats.org/drawingml/2006/main">
              <a:ext uri="{FF2B5EF4-FFF2-40B4-BE49-F238E27FC236}">
                <a16:creationId xmlns:a16="http://schemas.microsoft.com/office/drawing/2014/main" id="{F8935BE6-9F55-4ED9-B19B-C0D1ECD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F350C-7D7A-494A-95BB-0AE06FD41B87}"/>
              </a:ext>
            </a:extLst>
          </p:cNvPr>
          <p:cNvGraphicFramePr/>
          <p:nvPr/>
        </p:nvGraphicFramePr>
        <p:xfrm>
          <a:off xmlns:a="http://schemas.openxmlformats.org/drawingml/2006/main" x="762000" y="2419350"/>
          <a:ext xmlns:a="http://schemas.openxmlformats.org/drawingml/2006/main" cx="13716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571875"/>
                <a:gridCol w="3571875"/>
                <a:gridCol w="4095750"/>
              </a:tblGrid>
              <a:tr h="869156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母线类型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已知或设定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网络预测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潮流重构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</a:tr>
              <a:tr h="869156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PQ 母线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Pᴰ、Qᴰ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θ、|V|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PV 母线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负荷与母线类型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Pᴳ、|V|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θ、Qᴳ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869156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平衡母线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相角参考 θ₀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|V₀|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02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Pᴳ₀、Qᴳ₀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ariables.text-6">
            <a:extLst xmlns:a="http://schemas.openxmlformats.org/drawingml/2006/main">
              <a:ext uri="{FF2B5EF4-FFF2-40B4-BE49-F238E27FC236}">
                <a16:creationId xmlns:a16="http://schemas.microsoft.com/office/drawing/2014/main" id="{FB5CA64C-DE54-433F-8BCF-F70D8F2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57925"/>
            <a:ext cx="13239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预测维度按 §IV-D：2|G| + 1</a:t>
            </a:r>
          </a:p>
        </p:txBody>
      </p:sp>
      <p:sp>
        <p:nvSpPr>
          <p:cNvPr id="9" name="variables.text-7">
            <a:extLst xmlns:a="http://schemas.openxmlformats.org/drawingml/2006/main">
              <a:ext uri="{FF2B5EF4-FFF2-40B4-BE49-F238E27FC236}">
                <a16:creationId xmlns:a16="http://schemas.microsoft.com/office/drawing/2014/main" id="{DA019BEC-FA38-4290-993F-FDE1EE4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38975"/>
            <a:ext cx="1362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原表将 θ₀ 列为独立量；复现时需核对参考角设定与实际网络输出。</a:t>
            </a:r>
          </a:p>
        </p:txBody>
      </p:sp>
    </p:spTree>
    <p:extLst>
      <p:ext uri="{BB962C8B-B14F-4D97-AF65-F5344CB8AC3E}">
        <p14:creationId xmlns:p14="http://schemas.microsoft.com/office/powerpoint/2010/main" val="1786494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67C4-AE7D-41FD-8781-49881C3EC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49e9f668f473b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reconstruction.node-8">
            <a:extLst xmlns:a="http://schemas.openxmlformats.org/drawingml/2006/main">
              <a:ext uri="{FF2B5EF4-FFF2-40B4-BE49-F238E27FC236}">
                <a16:creationId xmlns:a16="http://schemas.microsoft.com/office/drawing/2014/main" id="{B1848792-BE24-4D6A-ACBA-0CD68606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reconstruction.title">
            <a:extLst xmlns:a="http://schemas.openxmlformats.org/drawingml/2006/main">
              <a:ext uri="{FF2B5EF4-FFF2-40B4-BE49-F238E27FC236}">
                <a16:creationId xmlns:a16="http://schemas.microsoft.com/office/drawing/2014/main" id="{1723CE9C-0ED0-4AD4-A645-C4230365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预测与重构的计算依赖</a:t>
            </a:r>
          </a:p>
        </p:txBody>
      </p:sp>
      <p:sp>
        <p:nvSpPr>
          <p:cNvPr id="4" name="reconstruction.text-9">
            <a:extLst xmlns:a="http://schemas.openxmlformats.org/drawingml/2006/main">
              <a:ext uri="{FF2B5EF4-FFF2-40B4-BE49-F238E27FC236}">
                <a16:creationId xmlns:a16="http://schemas.microsoft.com/office/drawing/2014/main" id="{C3530C98-0334-49DD-80C2-0E5DB16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57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reconstruction.node-10">
            <a:extLst xmlns:a="http://schemas.openxmlformats.org/drawingml/2006/main">
              <a:ext uri="{FF2B5EF4-FFF2-40B4-BE49-F238E27FC236}">
                <a16:creationId xmlns:a16="http://schemas.microsoft.com/office/drawing/2014/main" id="{237773CC-0CE0-4CB4-BB47-413B2A2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15325"/>
            <a:ext cx="15240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reconstruction.text-11">
            <a:extLst xmlns:a="http://schemas.openxmlformats.org/drawingml/2006/main">
              <a:ext uri="{FF2B5EF4-FFF2-40B4-BE49-F238E27FC236}">
                <a16:creationId xmlns:a16="http://schemas.microsoft.com/office/drawing/2014/main" id="{FE9BCAAE-18C3-4453-88E2-5709B29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334375"/>
            <a:ext cx="1400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依据：DeepOPF v6 Table II、§IV-C–D、式(8) · 原创计算示意，非实验结果</a:t>
            </a:r>
          </a:p>
        </p:txBody>
      </p:sp>
      <p:sp>
        <p:nvSpPr>
          <p:cNvPr id="7" name="reconstruction.text-12">
            <a:extLst xmlns:a="http://schemas.openxmlformats.org/drawingml/2006/main">
              <a:ext uri="{FF2B5EF4-FFF2-40B4-BE49-F238E27FC236}">
                <a16:creationId xmlns:a16="http://schemas.microsoft.com/office/drawing/2014/main" id="{FFDB86DA-AE11-40ED-8069-8688651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83248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726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DC927-75F4-4085-B3A0-1B1BCB863A45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9344025" y="6262688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48347-9322-42C2-BB02-384BB375139E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362450" y="6262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6F689-8443-4B3A-AE48-EF9332BDB40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01175" y="2967038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C0B20-FC79-4F9F-B522-788EC99D9FC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34100" y="296703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398B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03B9B-E025-4A83-A72C-DF7B7A50215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05150" y="2967038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sp>
        <p:nvSpPr>
          <p:cNvPr id="32" name="training.node-1">
            <a:extLst xmlns:a="http://schemas.openxmlformats.org/drawingml/2006/main">
              <a:ext uri="{FF2B5EF4-FFF2-40B4-BE49-F238E27FC236}">
                <a16:creationId xmlns:a16="http://schemas.microsoft.com/office/drawing/2014/main" id="{A2FFD4DE-3AC1-43EF-B7DE-FCF087E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training.title">
            <a:extLst xmlns:a="http://schemas.openxmlformats.org/drawingml/2006/main">
              <a:ext uri="{FF2B5EF4-FFF2-40B4-BE49-F238E27FC236}">
                <a16:creationId xmlns:a16="http://schemas.microsoft.com/office/drawing/2014/main" id="{1ADC6900-327D-442B-8D5F-11AD5A1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训练目标与零阶梯度估计</a:t>
            </a:r>
          </a:p>
        </p:txBody>
      </p:sp>
      <p:sp>
        <p:nvSpPr>
          <p:cNvPr id="3" name="training.text-2">
            <a:extLst xmlns:a="http://schemas.openxmlformats.org/drawingml/2006/main">
              <a:ext uri="{FF2B5EF4-FFF2-40B4-BE49-F238E27FC236}">
                <a16:creationId xmlns:a16="http://schemas.microsoft.com/office/drawing/2014/main" id="{F61E7112-2774-4FF5-91FE-DE47B05A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监督误差与重构后的越限惩罚共同参与参数更新</a:t>
            </a:r>
          </a:p>
        </p:txBody>
      </p:sp>
      <p:sp>
        <p:nvSpPr>
          <p:cNvPr id="4" name="training.text-3">
            <a:extLst xmlns:a="http://schemas.openxmlformats.org/drawingml/2006/main">
              <a:ext uri="{FF2B5EF4-FFF2-40B4-BE49-F238E27FC236}">
                <a16:creationId xmlns:a16="http://schemas.microsoft.com/office/drawing/2014/main" id="{140C965B-2C03-4E62-B234-2074C7D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" name="training.text-4">
            <a:extLst xmlns:a="http://schemas.openxmlformats.org/drawingml/2006/main">
              <a:ext uri="{FF2B5EF4-FFF2-40B4-BE49-F238E27FC236}">
                <a16:creationId xmlns:a16="http://schemas.microsoft.com/office/drawing/2014/main" id="{FA36D7E8-EB09-49F3-AA81-0B6CA4B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§IV-E–F，式(12)–(17) · 计算结构示意</a:t>
            </a:r>
          </a:p>
        </p:txBody>
      </p:sp>
      <p:sp>
        <p:nvSpPr>
          <p:cNvPr id="6" name="training.text-5">
            <a:extLst xmlns:a="http://schemas.openxmlformats.org/drawingml/2006/main">
              <a:ext uri="{FF2B5EF4-FFF2-40B4-BE49-F238E27FC236}">
                <a16:creationId xmlns:a16="http://schemas.microsoft.com/office/drawing/2014/main" id="{58CA7EC3-44B8-4B93-891D-7491CE6B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raining.node-6">
            <a:extLst xmlns:a="http://schemas.openxmlformats.org/drawingml/2006/main">
              <a:ext uri="{FF2B5EF4-FFF2-40B4-BE49-F238E27FC236}">
                <a16:creationId xmlns:a16="http://schemas.microsoft.com/office/drawing/2014/main" id="{4920B736-5B48-465C-86ED-90EE78EB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3792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training.node-7">
            <a:extLst xmlns:a="http://schemas.openxmlformats.org/drawingml/2006/main">
              <a:ext uri="{FF2B5EF4-FFF2-40B4-BE49-F238E27FC236}">
                <a16:creationId xmlns:a16="http://schemas.microsoft.com/office/drawing/2014/main" id="{BF558924-2024-43BB-BDFE-C3837B9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379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前向计算与损失组成</a:t>
            </a:r>
          </a:p>
        </p:txBody>
      </p:sp>
      <p:sp>
        <p:nvSpPr>
          <p:cNvPr id="9" name="training.node-8">
            <a:extLst xmlns:a="http://schemas.openxmlformats.org/drawingml/2006/main">
              <a:ext uri="{FF2B5EF4-FFF2-40B4-BE49-F238E27FC236}">
                <a16:creationId xmlns:a16="http://schemas.microsoft.com/office/drawing/2014/main" id="{8D1B8281-8348-4ECF-984C-9F7F2223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1717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负荷样本</a:t>
            </a:r>
          </a:p>
          <a:p xmlns:a="http://schemas.openxmlformats.org/drawingml/2006/main">
            <a: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Pᴰ、Qᴰ</a:t>
            </a:r>
          </a:p>
        </p:txBody>
      </p:sp>
      <p:sp>
        <p:nvSpPr>
          <p:cNvPr id="10" name="training.node-9">
            <a:extLst xmlns:a="http://schemas.openxmlformats.org/drawingml/2006/main">
              <a:ext uri="{FF2B5EF4-FFF2-40B4-BE49-F238E27FC236}">
                <a16:creationId xmlns:a16="http://schemas.microsoft.com/office/drawing/2014/main" id="{AB0106D9-D910-4A15-BC5A-DD7EE795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23050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DNN</a:t>
            </a:r>
          </a:p>
          <a:p xmlns:a="http://schemas.openxmlformats.org/drawingml/2006/main">
            <a:pPr algn="ctr">
              <a:def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缩放因子 s</a:t>
            </a:r>
          </a:p>
        </p:txBody>
      </p:sp>
      <p:sp>
        <p:nvSpPr>
          <p:cNvPr id="11" name="training.node-10">
            <a:extLst xmlns:a="http://schemas.openxmlformats.org/drawingml/2006/main">
              <a:ext uri="{FF2B5EF4-FFF2-40B4-BE49-F238E27FC236}">
                <a16:creationId xmlns:a16="http://schemas.microsoft.com/office/drawing/2014/main" id="{63AD1130-4EBD-41E8-A5F5-53E9DDD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95550"/>
            <a:ext cx="2514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AC潮流</a:t>
            </a:r>
          </a:p>
          <a:p xmlns:a="http://schemas.openxmlformats.org/drawingml/2006/main">
            <a:pPr algn="ctr">
              <a:def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重构状态</a:t>
            </a:r>
          </a:p>
        </p:txBody>
      </p:sp>
      <p:sp>
        <p:nvSpPr>
          <p:cNvPr id="12" name="training.node-11">
            <a:extLst xmlns:a="http://schemas.openxmlformats.org/drawingml/2006/main">
              <a:ext uri="{FF2B5EF4-FFF2-40B4-BE49-F238E27FC236}">
                <a16:creationId xmlns:a16="http://schemas.microsoft.com/office/drawing/2014/main" id="{00D80DBA-73EA-45ED-A173-63AFA39E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95550"/>
            <a:ext cx="36861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重构变量 / 支路</a:t>
            </a:r>
          </a:p>
          <a:p xmlns:a="http://schemas.openxmlformats.org/drawingml/2006/main">
            <a:pPr algn="ctr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越限惩罚 Lpen</a:t>
            </a:r>
          </a:p>
        </p:txBody>
      </p:sp>
      <p:sp>
        <p:nvSpPr>
          <p:cNvPr id="16" name="training.node-12">
            <a:extLst xmlns:a="http://schemas.openxmlformats.org/drawingml/2006/main">
              <a:ext uri="{FF2B5EF4-FFF2-40B4-BE49-F238E27FC236}">
                <a16:creationId xmlns:a16="http://schemas.microsoft.com/office/drawing/2014/main" id="{50C817A9-8BC9-43B8-99B5-112EF984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670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training.node-13">
            <a:extLst xmlns:a="http://schemas.openxmlformats.org/drawingml/2006/main">
              <a:ext uri="{FF2B5EF4-FFF2-40B4-BE49-F238E27FC236}">
                <a16:creationId xmlns:a16="http://schemas.microsoft.com/office/drawing/2014/main" id="{E8DB8825-C418-4C79-B90C-53BA9645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training.node-14">
            <a:extLst xmlns:a="http://schemas.openxmlformats.org/drawingml/2006/main">
              <a:ext uri="{FF2B5EF4-FFF2-40B4-BE49-F238E27FC236}">
                <a16:creationId xmlns:a16="http://schemas.microsoft.com/office/drawing/2014/main" id="{2062B3BA-D350-45F7-9F6C-695F41CC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67025"/>
            <a:ext cx="8286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training.text-15">
            <a:extLst xmlns:a="http://schemas.openxmlformats.org/drawingml/2006/main">
              <a:ext uri="{FF2B5EF4-FFF2-40B4-BE49-F238E27FC236}">
                <a16:creationId xmlns:a16="http://schemas.microsoft.com/office/drawing/2014/main" id="{F818DD3D-4DE5-4A76-B114-7FBB9B7F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725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参考缩放因子与预测输出 → Lpred</a:t>
            </a:r>
          </a:p>
        </p:txBody>
      </p:sp>
      <p:sp>
        <p:nvSpPr>
          <p:cNvPr id="20" name="training.text-16">
            <a:extLst xmlns:a="http://schemas.openxmlformats.org/drawingml/2006/main">
              <a:ext uri="{FF2B5EF4-FFF2-40B4-BE49-F238E27FC236}">
                <a16:creationId xmlns:a16="http://schemas.microsoft.com/office/drawing/2014/main" id="{E9AAAD88-4890-47B7-AE4F-6AE9369D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528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L = w₁ Lpred + w₂ Lpen</a:t>
            </a:r>
          </a:p>
        </p:txBody>
      </p:sp>
      <p:sp>
        <p:nvSpPr>
          <p:cNvPr id="21" name="training.node-17">
            <a:extLst xmlns:a="http://schemas.openxmlformats.org/drawingml/2006/main">
              <a:ext uri="{FF2B5EF4-FFF2-40B4-BE49-F238E27FC236}">
                <a16:creationId xmlns:a16="http://schemas.microsoft.com/office/drawing/2014/main" id="{B039F993-B5BF-4CF6-8DEE-D06EF680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37922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training.node-18">
            <a:extLst xmlns:a="http://schemas.openxmlformats.org/drawingml/2006/main">
              <a:ext uri="{FF2B5EF4-FFF2-40B4-BE49-F238E27FC236}">
                <a16:creationId xmlns:a16="http://schemas.microsoft.com/office/drawing/2014/main" id="{3C1822AE-76DD-4058-845F-5C33F10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379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惩罚项的零阶梯度路径</a:t>
            </a:r>
          </a:p>
        </p:txBody>
      </p:sp>
      <p:sp>
        <p:nvSpPr>
          <p:cNvPr id="23" name="training.node-19">
            <a:extLst xmlns:a="http://schemas.openxmlformats.org/drawingml/2006/main">
              <a:ext uri="{FF2B5EF4-FFF2-40B4-BE49-F238E27FC236}">
                <a16:creationId xmlns:a16="http://schemas.microsoft.com/office/drawing/2014/main" id="{364D97DB-FA79-4D99-9FB8-0F52AA0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762625"/>
            <a:ext cx="3438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s + δv</a:t>
            </a:r>
          </a:p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重构并计算惩罚</a:t>
            </a:r>
          </a:p>
        </p:txBody>
      </p:sp>
      <p:sp>
        <p:nvSpPr>
          <p:cNvPr id="24" name="training.node-20">
            <a:extLst xmlns:a="http://schemas.openxmlformats.org/drawingml/2006/main">
              <a:ext uri="{FF2B5EF4-FFF2-40B4-BE49-F238E27FC236}">
                <a16:creationId xmlns:a16="http://schemas.microsoft.com/office/drawing/2014/main" id="{206FC8FC-04E8-46E5-A18D-585546E1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762625"/>
            <a:ext cx="3457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两点差分</a:t>
            </a:r>
          </a:p>
          <a:p xmlns:a="http://schemas.openxmlformats.org/drawingml/2006/main">
            <a:pPr algn="ctr">
              <a:def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估计惩罚梯度</a:t>
            </a:r>
          </a:p>
        </p:txBody>
      </p:sp>
      <p:sp>
        <p:nvSpPr>
          <p:cNvPr id="25" name="training.node-21">
            <a:extLst xmlns:a="http://schemas.openxmlformats.org/drawingml/2006/main">
              <a:ext uri="{FF2B5EF4-FFF2-40B4-BE49-F238E27FC236}">
                <a16:creationId xmlns:a16="http://schemas.microsoft.com/office/drawing/2014/main" id="{E8057C32-F50D-4C07-BB38-25D3B12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762625"/>
            <a:ext cx="3200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s − δv</a:t>
            </a:r>
          </a:p>
          <a:p xmlns:a="http://schemas.openxmlformats.org/drawingml/2006/main">
            <a:pPr algn="ctr">
              <a:def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重构并计算惩罚</a:t>
            </a:r>
          </a:p>
        </p:txBody>
      </p:sp>
      <p:sp>
        <p:nvSpPr>
          <p:cNvPr id="28" name="training.node-22">
            <a:extLst xmlns:a="http://schemas.openxmlformats.org/drawingml/2006/main">
              <a:ext uri="{FF2B5EF4-FFF2-40B4-BE49-F238E27FC236}">
                <a16:creationId xmlns:a16="http://schemas.microsoft.com/office/drawing/2014/main" id="{104E44A9-8D67-432E-9ECB-32580EFC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153150"/>
            <a:ext cx="11334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training.node-23">
            <a:extLst xmlns:a="http://schemas.openxmlformats.org/drawingml/2006/main">
              <a:ext uri="{FF2B5EF4-FFF2-40B4-BE49-F238E27FC236}">
                <a16:creationId xmlns:a16="http://schemas.microsoft.com/office/drawing/2014/main" id="{77CC9673-5662-4650-BC30-DBAEB37B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53150"/>
            <a:ext cx="1390650" cy="2190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E927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training.text-24">
            <a:extLst xmlns:a="http://schemas.openxmlformats.org/drawingml/2006/main">
              <a:ext uri="{FF2B5EF4-FFF2-40B4-BE49-F238E27FC236}">
                <a16:creationId xmlns:a16="http://schemas.microsoft.com/office/drawing/2014/main" id="{68D03271-80D5-4C04-A321-2405C01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92467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v：随机方向；δ：扰动尺度</a:t>
            </a:r>
          </a:p>
        </p:txBody>
      </p:sp>
      <p:sp>
        <p:nvSpPr>
          <p:cNvPr id="31" name="training.text-25">
            <a:extLst xmlns:a="http://schemas.openxmlformats.org/drawingml/2006/main">
              <a:ext uri="{FF2B5EF4-FFF2-40B4-BE49-F238E27FC236}">
                <a16:creationId xmlns:a16="http://schemas.microsoft.com/office/drawing/2014/main" id="{BAB3AA12-FE69-4CDD-A730-CFACDCB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924675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梯度估计用于网络参数更新</a:t>
            </a:r>
          </a:p>
        </p:txBody>
      </p:sp>
    </p:spTree>
    <p:extLst>
      <p:ext uri="{BB962C8B-B14F-4D97-AF65-F5344CB8AC3E}">
        <p14:creationId xmlns:p14="http://schemas.microsoft.com/office/powerpoint/2010/main" val="13976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A4732-92F2-4BA1-B5FC-7A2A660259CB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305675" y="5095875"/>
            <a:ext cx="5453063" cy="8001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6BB17-C359-4F72-82BA-FCDA7719DAE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29725" y="4419600"/>
            <a:ext cx="177165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398B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0DCE6-2E7F-434C-8D69-B808F20425A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9229725" y="2709863"/>
            <a:ext cx="1771650" cy="17097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E927B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DADCF-2A94-4487-815C-8630FC149FD4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305675" y="30289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6EAA"/>
            </a:solidFill>
            <a:prstDash val="solid"/>
            <a:tailEnd type="triangle" w="med" len="med"/>
          </a:ln>
        </p:spPr>
      </p:cxnSp>
      <p:sp>
        <p:nvSpPr>
          <p:cNvPr id="29" name="feasibility.node-1">
            <a:extLst xmlns:a="http://schemas.openxmlformats.org/drawingml/2006/main">
              <a:ext uri="{FF2B5EF4-FFF2-40B4-BE49-F238E27FC236}">
                <a16:creationId xmlns:a16="http://schemas.microsoft.com/office/drawing/2014/main" id="{31A3F476-9D06-499A-825C-9BD06669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feasibility.title">
            <a:extLst xmlns:a="http://schemas.openxmlformats.org/drawingml/2006/main">
              <a:ext uri="{FF2B5EF4-FFF2-40B4-BE49-F238E27FC236}">
                <a16:creationId xmlns:a16="http://schemas.microsoft.com/office/drawing/2014/main" id="{8835B337-FD8C-4CC2-A4AB-FD27D4C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可行性检查与恢复</a:t>
            </a:r>
          </a:p>
        </p:txBody>
      </p:sp>
      <p:sp>
        <p:nvSpPr>
          <p:cNvPr id="3" name="feasibility.text-2">
            <a:extLst xmlns:a="http://schemas.openxmlformats.org/drawingml/2006/main">
              <a:ext uri="{FF2B5EF4-FFF2-40B4-BE49-F238E27FC236}">
                <a16:creationId xmlns:a16="http://schemas.microsoft.com/office/drawing/2014/main" id="{082EDB7B-F49A-4F80-93EA-A4134C8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重构满足功率平衡后，继续核查运行边界</a:t>
            </a:r>
          </a:p>
        </p:txBody>
      </p:sp>
      <p:sp>
        <p:nvSpPr>
          <p:cNvPr id="4" name="feasibility.text-3">
            <a:extLst xmlns:a="http://schemas.openxmlformats.org/drawingml/2006/main">
              <a:ext uri="{FF2B5EF4-FFF2-40B4-BE49-F238E27FC236}">
                <a16:creationId xmlns:a16="http://schemas.microsoft.com/office/drawing/2014/main" id="{D260E57B-A566-432D-B3D1-F420960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5" name="feasibility.text-4">
            <a:extLst xmlns:a="http://schemas.openxmlformats.org/drawingml/2006/main">
              <a:ext uri="{FF2B5EF4-FFF2-40B4-BE49-F238E27FC236}">
                <a16:creationId xmlns:a16="http://schemas.microsoft.com/office/drawing/2014/main" id="{E7C491EA-1E66-4CB9-B313-F5CBCA2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§IV-G、§VI-A · 条件分支表示在线计算</a:t>
            </a:r>
          </a:p>
        </p:txBody>
      </p:sp>
      <p:sp>
        <p:nvSpPr>
          <p:cNvPr id="6" name="feasibility.text-5">
            <a:extLst xmlns:a="http://schemas.openxmlformats.org/drawingml/2006/main">
              <a:ext uri="{FF2B5EF4-FFF2-40B4-BE49-F238E27FC236}">
                <a16:creationId xmlns:a16="http://schemas.microsoft.com/office/drawing/2014/main" id="{7EA5DC66-95E8-4DF8-BB0D-67C596E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feasibility.node-6">
            <a:extLst xmlns:a="http://schemas.openxmlformats.org/drawingml/2006/main">
              <a:ext uri="{FF2B5EF4-FFF2-40B4-BE49-F238E27FC236}">
                <a16:creationId xmlns:a16="http://schemas.microsoft.com/office/drawing/2014/main" id="{0AC5ED52-59A8-499F-AAB3-CA03ADA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8481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feasibility.node-7">
            <a:extLst xmlns:a="http://schemas.openxmlformats.org/drawingml/2006/main">
              <a:ext uri="{FF2B5EF4-FFF2-40B4-BE49-F238E27FC236}">
                <a16:creationId xmlns:a16="http://schemas.microsoft.com/office/drawing/2014/main" id="{EB20C9A4-C41B-4D3D-9EEF-8D5F17E1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EA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需要核查的运行对象</a:t>
            </a:r>
          </a:p>
        </p:txBody>
      </p:sp>
      <p:sp>
        <p:nvSpPr>
          <p:cNvPr id="9" name="feasibility.text-8">
            <a:extLst xmlns:a="http://schemas.openxmlformats.org/drawingml/2006/main">
              <a:ext uri="{FF2B5EF4-FFF2-40B4-BE49-F238E27FC236}">
                <a16:creationId xmlns:a16="http://schemas.microsoft.com/office/drawing/2014/main" id="{0DED7282-1D45-4573-AA40-AABF9FB1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发电机 P / Q</a:t>
            </a:r>
          </a:p>
        </p:txBody>
      </p:sp>
      <p:sp>
        <p:nvSpPr>
          <p:cNvPr id="10" name="feasibility.node-9">
            <a:extLst xmlns:a="http://schemas.openxmlformats.org/drawingml/2006/main">
              <a:ext uri="{FF2B5EF4-FFF2-40B4-BE49-F238E27FC236}">
                <a16:creationId xmlns:a16="http://schemas.microsoft.com/office/drawing/2014/main" id="{607A12DB-D36D-4C2C-9CCB-75382A44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05125"/>
            <a:ext cx="335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下限 ≤ 运行量 ≤ 上限</a:t>
            </a:r>
          </a:p>
        </p:txBody>
      </p:sp>
      <p:sp>
        <p:nvSpPr>
          <p:cNvPr id="11" name="feasibility.text-10">
            <a:extLst xmlns:a="http://schemas.openxmlformats.org/drawingml/2006/main">
              <a:ext uri="{FF2B5EF4-FFF2-40B4-BE49-F238E27FC236}">
                <a16:creationId xmlns:a16="http://schemas.microsoft.com/office/drawing/2014/main" id="{E53D712F-C994-4A82-B9F6-2083831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PQ母线电压</a:t>
            </a:r>
          </a:p>
        </p:txBody>
      </p:sp>
      <p:sp>
        <p:nvSpPr>
          <p:cNvPr id="12" name="feasibility.node-11">
            <a:extLst xmlns:a="http://schemas.openxmlformats.org/drawingml/2006/main">
              <a:ext uri="{FF2B5EF4-FFF2-40B4-BE49-F238E27FC236}">
                <a16:creationId xmlns:a16="http://schemas.microsoft.com/office/drawing/2014/main" id="{7F7AE3D9-D823-4F3F-8ABD-C5698A4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24300"/>
            <a:ext cx="335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下限 ≤ 运行量 ≤ 上限</a:t>
            </a:r>
          </a:p>
        </p:txBody>
      </p:sp>
      <p:sp>
        <p:nvSpPr>
          <p:cNvPr id="13" name="feasibility.text-12">
            <a:extLst xmlns:a="http://schemas.openxmlformats.org/drawingml/2006/main">
              <a:ext uri="{FF2B5EF4-FFF2-40B4-BE49-F238E27FC236}">
                <a16:creationId xmlns:a16="http://schemas.microsoft.com/office/drawing/2014/main" id="{96D1406C-291F-467D-8B69-829A565D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6275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平衡母线功率</a:t>
            </a:r>
          </a:p>
        </p:txBody>
      </p:sp>
      <p:sp>
        <p:nvSpPr>
          <p:cNvPr id="14" name="feasibility.node-13">
            <a:extLst xmlns:a="http://schemas.openxmlformats.org/drawingml/2006/main">
              <a:ext uri="{FF2B5EF4-FFF2-40B4-BE49-F238E27FC236}">
                <a16:creationId xmlns:a16="http://schemas.microsoft.com/office/drawing/2014/main" id="{863588D8-770F-4630-AF0F-4073A31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43475"/>
            <a:ext cx="335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下限 ≤ 运行量 ≤ 上限</a:t>
            </a:r>
          </a:p>
        </p:txBody>
      </p:sp>
      <p:sp>
        <p:nvSpPr>
          <p:cNvPr id="15" name="feasibility.text-14">
            <a:extLst xmlns:a="http://schemas.openxmlformats.org/drawingml/2006/main">
              <a:ext uri="{FF2B5EF4-FFF2-40B4-BE49-F238E27FC236}">
                <a16:creationId xmlns:a16="http://schemas.microsoft.com/office/drawing/2014/main" id="{C6075C5F-30CD-4403-B7BF-D77928B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支路视在功率</a:t>
            </a:r>
          </a:p>
        </p:txBody>
      </p:sp>
      <p:sp>
        <p:nvSpPr>
          <p:cNvPr id="16" name="feasibility.node-15">
            <a:extLst xmlns:a="http://schemas.openxmlformats.org/drawingml/2006/main">
              <a:ext uri="{FF2B5EF4-FFF2-40B4-BE49-F238E27FC236}">
                <a16:creationId xmlns:a16="http://schemas.microsoft.com/office/drawing/2014/main" id="{A4DEC1A9-EF4D-42AF-BCF2-5A102DC6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62650"/>
            <a:ext cx="3352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0 ≤ |Sᵢⱼ| ≤ Sᵢⱼ,max</a:t>
            </a:r>
          </a:p>
        </p:txBody>
      </p:sp>
      <p:sp>
        <p:nvSpPr>
          <p:cNvPr id="17" name="feasibility.node-16">
            <a:extLst xmlns:a="http://schemas.openxmlformats.org/drawingml/2006/main">
              <a:ext uri="{FF2B5EF4-FFF2-40B4-BE49-F238E27FC236}">
                <a16:creationId xmlns:a16="http://schemas.microsoft.com/office/drawing/2014/main" id="{1F2EC78B-8083-42CA-A02A-156ECE7C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3752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预测与重构</a:t>
            </a:r>
          </a:p>
          <a:p xmlns:a="http://schemas.openxmlformats.org/drawingml/2006/main">
            <a:pPr algn="ctr">
              <a:defRPr sz="21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候选运行解</a:t>
            </a:r>
          </a:p>
        </p:txBody>
      </p:sp>
      <p:sp>
        <p:nvSpPr>
          <p:cNvPr id="18" name="feasibility.node-17">
            <a:extLst xmlns:a="http://schemas.openxmlformats.org/drawingml/2006/main">
              <a:ext uri="{FF2B5EF4-FFF2-40B4-BE49-F238E27FC236}">
                <a16:creationId xmlns:a16="http://schemas.microsoft.com/office/drawing/2014/main" id="{5532FCA9-DFE2-43FE-962E-5401A0B1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43325"/>
            <a:ext cx="3848100" cy="1352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约束检查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全部满足？</a:t>
            </a:r>
          </a:p>
        </p:txBody>
      </p:sp>
      <p:sp>
        <p:nvSpPr>
          <p:cNvPr id="19" name="feasibility.node-18">
            <a:extLst xmlns:a="http://schemas.openxmlformats.org/drawingml/2006/main">
              <a:ext uri="{FF2B5EF4-FFF2-40B4-BE49-F238E27FC236}">
                <a16:creationId xmlns:a16="http://schemas.microsoft.com/office/drawing/2014/main" id="{E95AA38E-774F-4417-B6A8-7970880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181225"/>
            <a:ext cx="35147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通过检查</a:t>
            </a:r>
          </a:p>
          <a:p xmlns:a="http://schemas.openxmlformats.org/drawingml/2006/main">
            <a:pPr algn="ctr">
              <a:def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保留候选解</a:t>
            </a:r>
          </a:p>
        </p:txBody>
      </p:sp>
      <p:sp>
        <p:nvSpPr>
          <p:cNvPr id="20" name="feasibility.node-19">
            <a:extLst xmlns:a="http://schemas.openxmlformats.org/drawingml/2006/main">
              <a:ext uri="{FF2B5EF4-FFF2-40B4-BE49-F238E27FC236}">
                <a16:creationId xmlns:a16="http://schemas.microsoft.com/office/drawing/2014/main" id="{AA283A79-0446-4EA1-94DF-BAD9902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24375"/>
            <a:ext cx="35147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F8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存在越限</a:t>
            </a:r>
          </a:p>
          <a:p xmlns:a="http://schemas.openxmlformats.org/drawingml/2006/main">
            <a:pPr algn="ctr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启动可行性恢复</a:t>
            </a:r>
          </a:p>
        </p:txBody>
      </p:sp>
      <p:sp>
        <p:nvSpPr>
          <p:cNvPr id="25" name="feasibility.text-20">
            <a:extLst xmlns:a="http://schemas.openxmlformats.org/drawingml/2006/main">
              <a:ext uri="{FF2B5EF4-FFF2-40B4-BE49-F238E27FC236}">
                <a16:creationId xmlns:a16="http://schemas.microsoft.com/office/drawing/2014/main" id="{B16CBCFB-B9ED-403F-AB8B-2092EA17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19400"/>
            <a:ext cx="129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满足</a:t>
            </a:r>
          </a:p>
        </p:txBody>
      </p:sp>
      <p:sp>
        <p:nvSpPr>
          <p:cNvPr id="26" name="feasibility.text-21">
            <a:extLst xmlns:a="http://schemas.openxmlformats.org/drawingml/2006/main">
              <a:ext uri="{FF2B5EF4-FFF2-40B4-BE49-F238E27FC236}">
                <a16:creationId xmlns:a16="http://schemas.microsoft.com/office/drawing/2014/main" id="{72F68B6A-C31C-49C3-859F-BF81B28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未满足</a:t>
            </a:r>
          </a:p>
        </p:txBody>
      </p:sp>
      <p:sp>
        <p:nvSpPr>
          <p:cNvPr id="27" name="feasibility.text-22">
            <a:extLst xmlns:a="http://schemas.openxmlformats.org/drawingml/2006/main">
              <a:ext uri="{FF2B5EF4-FFF2-40B4-BE49-F238E27FC236}">
                <a16:creationId xmlns:a16="http://schemas.microsoft.com/office/drawing/2014/main" id="{34AB5EB5-BAEC-45E6-B5A5-CBDC7F0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115050"/>
            <a:ext cx="4895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恢复后再次检查</a:t>
            </a:r>
          </a:p>
        </p:txBody>
      </p:sp>
      <p:sp>
        <p:nvSpPr>
          <p:cNvPr id="28" name="feasibility.node-23">
            <a:extLst xmlns:a="http://schemas.openxmlformats.org/drawingml/2006/main">
              <a:ext uri="{FF2B5EF4-FFF2-40B4-BE49-F238E27FC236}">
                <a16:creationId xmlns:a16="http://schemas.microsoft.com/office/drawing/2014/main" id="{4D29AC66-99EB-4853-A45B-526BEA83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000875"/>
            <a:ext cx="90582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分别报告：预测端可行率 / 恢复后可行率</a:t>
            </a:r>
          </a:p>
        </p:txBody>
      </p:sp>
    </p:spTree>
    <p:extLst>
      <p:ext uri="{BB962C8B-B14F-4D97-AF65-F5344CB8AC3E}">
        <p14:creationId xmlns:p14="http://schemas.microsoft.com/office/powerpoint/2010/main" val="1623892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03E1D-AA4B-4072-B9D3-E593B134D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985f4ea424b4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data-route.node-24">
            <a:extLst xmlns:a="http://schemas.openxmlformats.org/drawingml/2006/main">
              <a:ext uri="{FF2B5EF4-FFF2-40B4-BE49-F238E27FC236}">
                <a16:creationId xmlns:a16="http://schemas.microsoft.com/office/drawing/2014/main" id="{98550047-139F-4518-83C4-F65F55A3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data-route.title">
            <a:extLst xmlns:a="http://schemas.openxmlformats.org/drawingml/2006/main">
              <a:ext uri="{FF2B5EF4-FFF2-40B4-BE49-F238E27FC236}">
                <a16:creationId xmlns:a16="http://schemas.microsoft.com/office/drawing/2014/main" id="{E0BD7E8A-D57F-46CB-85C3-BF28BEA5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实验数据的生成与验证路线</a:t>
            </a:r>
          </a:p>
        </p:txBody>
      </p:sp>
      <p:sp>
        <p:nvSpPr>
          <p:cNvPr id="4" name="data-route.text-25">
            <a:extLst xmlns:a="http://schemas.openxmlformats.org/drawingml/2006/main">
              <a:ext uri="{FF2B5EF4-FFF2-40B4-BE49-F238E27FC236}">
                <a16:creationId xmlns:a16="http://schemas.microsoft.com/office/drawing/2014/main" id="{871AEDEB-39C5-4AB4-B3D0-E5B7085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57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5" name="data-route.node-26">
            <a:extLst xmlns:a="http://schemas.openxmlformats.org/drawingml/2006/main">
              <a:ext uri="{FF2B5EF4-FFF2-40B4-BE49-F238E27FC236}">
                <a16:creationId xmlns:a16="http://schemas.microsoft.com/office/drawing/2014/main" id="{708649A2-D6A0-454F-94C5-F2C37B6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15325"/>
            <a:ext cx="15240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data-route.text-27">
            <a:extLst xmlns:a="http://schemas.openxmlformats.org/drawingml/2006/main">
              <a:ext uri="{FF2B5EF4-FFF2-40B4-BE49-F238E27FC236}">
                <a16:creationId xmlns:a16="http://schemas.microsoft.com/office/drawing/2014/main" id="{E48E2447-D12C-4755-BAC2-074ADB1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334375"/>
            <a:ext cx="1400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依据：DeepOPF v6 §VI-A、Tables III–V · 原文设定整理，未复现实验</a:t>
            </a:r>
          </a:p>
        </p:txBody>
      </p:sp>
      <p:sp>
        <p:nvSpPr>
          <p:cNvPr id="7" name="data-route.text-28">
            <a:extLst xmlns:a="http://schemas.openxmlformats.org/drawingml/2006/main">
              <a:ext uri="{FF2B5EF4-FFF2-40B4-BE49-F238E27FC236}">
                <a16:creationId xmlns:a16="http://schemas.microsoft.com/office/drawing/2014/main" id="{D8216463-51B7-431A-812A-0B73634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83248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34663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xperiment-design.node-1">
            <a:extLst xmlns:a="http://schemas.openxmlformats.org/drawingml/2006/main">
              <a:ext uri="{FF2B5EF4-FFF2-40B4-BE49-F238E27FC236}">
                <a16:creationId xmlns:a16="http://schemas.microsoft.com/office/drawing/2014/main" id="{E8667D58-1D0F-4CFE-80BA-E1D45D55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experiment-design.title">
            <a:extLst xmlns:a="http://schemas.openxmlformats.org/drawingml/2006/main">
              <a:ext uri="{FF2B5EF4-FFF2-40B4-BE49-F238E27FC236}">
                <a16:creationId xmlns:a16="http://schemas.microsoft.com/office/drawing/2014/main" id="{1C534AB8-D04C-4414-9704-F55CB222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实验设计与比较条件</a:t>
            </a:r>
          </a:p>
        </p:txBody>
      </p:sp>
      <p:sp>
        <p:nvSpPr>
          <p:cNvPr id="3" name="experiment-design.text-2">
            <a:extLst xmlns:a="http://schemas.openxmlformats.org/drawingml/2006/main">
              <a:ext uri="{FF2B5EF4-FFF2-40B4-BE49-F238E27FC236}">
                <a16:creationId xmlns:a16="http://schemas.microsoft.com/office/drawing/2014/main" id="{F6D4162C-2CAA-423A-9353-5531000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网络规模、模型结构和基线方法共同限定实验结论</a:t>
            </a:r>
          </a:p>
        </p:txBody>
      </p:sp>
      <p:sp>
        <p:nvSpPr>
          <p:cNvPr id="4" name="experiment-design.text-3">
            <a:extLst xmlns:a="http://schemas.openxmlformats.org/drawingml/2006/main">
              <a:ext uri="{FF2B5EF4-FFF2-40B4-BE49-F238E27FC236}">
                <a16:creationId xmlns:a16="http://schemas.microsoft.com/office/drawing/2014/main" id="{F3C0E054-5BF7-416D-A3B0-C870C8A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5" name="experiment-design.text-4">
            <a:extLst xmlns:a="http://schemas.openxmlformats.org/drawingml/2006/main">
              <a:ext uri="{FF2B5EF4-FFF2-40B4-BE49-F238E27FC236}">
                <a16:creationId xmlns:a16="http://schemas.microsoft.com/office/drawing/2014/main" id="{A327AD78-1F4B-42B8-8929-7CEB08E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Table III、§VI-A · 2000母线为合成测试系统</a:t>
            </a:r>
          </a:p>
        </p:txBody>
      </p:sp>
      <p:sp>
        <p:nvSpPr>
          <p:cNvPr id="6" name="experiment-design.text-5">
            <a:extLst xmlns:a="http://schemas.openxmlformats.org/drawingml/2006/main">
              <a:ext uri="{FF2B5EF4-FFF2-40B4-BE49-F238E27FC236}">
                <a16:creationId xmlns:a16="http://schemas.microsoft.com/office/drawing/2014/main" id="{FA393023-2D63-4F8C-A33C-EAECB07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E3BD0-707F-4E6E-B485-BBC4266661FE}"/>
              </a:ext>
            </a:extLst>
          </p:cNvPr>
          <p:cNvGraphicFramePr/>
          <p:nvPr/>
        </p:nvGraphicFramePr>
        <p:xfrm>
          <a:off xmlns:a="http://schemas.openxmlformats.org/drawingml/2006/main" x="771525" y="2076450"/>
          <a:ext xmlns:a="http://schemas.openxmlformats.org/drawingml/2006/main" cx="1369695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95500"/>
                <a:gridCol w="2095500"/>
                <a:gridCol w="2095500"/>
                <a:gridCol w="5410200"/>
              </a:tblGrid>
              <a:tr h="62484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母线数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PV母线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PQ母线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支路数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隐藏层 / 每层神经元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</a:tr>
              <a:tr h="62484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64–32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118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231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256–128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62484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512–256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1822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3693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2048–1024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8" name="experiment-design.text-6">
            <a:extLst xmlns:a="http://schemas.openxmlformats.org/drawingml/2006/main">
              <a:ext uri="{FF2B5EF4-FFF2-40B4-BE49-F238E27FC236}">
                <a16:creationId xmlns:a16="http://schemas.microsoft.com/office/drawing/2014/main" id="{CC7C9F79-AFBD-4DBC-96A6-3746CF5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9592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比较方法</a:t>
            </a:r>
          </a:p>
        </p:txBody>
      </p:sp>
      <p:sp>
        <p:nvSpPr>
          <p:cNvPr id="9" name="experiment-design.text-7">
            <a:extLst xmlns:a="http://schemas.openxmlformats.org/drawingml/2006/main">
              <a:ext uri="{FF2B5EF4-FFF2-40B4-BE49-F238E27FC236}">
                <a16:creationId xmlns:a16="http://schemas.microsoft.com/office/drawing/2014/main" id="{78E0F7E1-9C43-4175-B528-B62296A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34100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Pypower：迭代求解基准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DNN-E：无惩罚学习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DNN-W：学习热启动</a:t>
            </a:r>
          </a:p>
        </p:txBody>
      </p:sp>
      <p:sp>
        <p:nvSpPr>
          <p:cNvPr id="10" name="experiment-design.text-8">
            <a:extLst xmlns:a="http://schemas.openxmlformats.org/drawingml/2006/main">
              <a:ext uri="{FF2B5EF4-FFF2-40B4-BE49-F238E27FC236}">
                <a16:creationId xmlns:a16="http://schemas.microsoft.com/office/drawing/2014/main" id="{B028D6C7-F691-49F9-96F1-2F4E6D5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95925"/>
            <a:ext cx="6276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比较条件</a:t>
            </a:r>
          </a:p>
        </p:txBody>
      </p:sp>
      <p:sp>
        <p:nvSpPr>
          <p:cNvPr id="11" name="experiment-design.text-9">
            <a:extLst xmlns:a="http://schemas.openxmlformats.org/drawingml/2006/main">
              <a:ext uri="{FF2B5EF4-FFF2-40B4-BE49-F238E27FC236}">
                <a16:creationId xmlns:a16="http://schemas.microsoft.com/office/drawing/2014/main" id="{9609CFF1-FD33-42D1-BFA3-9A12A35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134100"/>
            <a:ext cx="62769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相同训练与测试样本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在线时间包含可行性恢复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CPU i7-3770，16GB RAM</a:t>
            </a:r>
          </a:p>
        </p:txBody>
      </p:sp>
    </p:spTree>
    <p:extLst>
      <p:ext uri="{BB962C8B-B14F-4D97-AF65-F5344CB8AC3E}">
        <p14:creationId xmlns:p14="http://schemas.microsoft.com/office/powerpoint/2010/main" val="627202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etrics.node-1">
            <a:extLst xmlns:a="http://schemas.openxmlformats.org/drawingml/2006/main">
              <a:ext uri="{FF2B5EF4-FFF2-40B4-BE49-F238E27FC236}">
                <a16:creationId xmlns:a16="http://schemas.microsoft.com/office/drawing/2014/main" id="{BECFFB45-EA5E-484B-97AE-CBBBA0A9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metrics.title">
            <a:extLst xmlns:a="http://schemas.openxmlformats.org/drawingml/2006/main">
              <a:ext uri="{FF2B5EF4-FFF2-40B4-BE49-F238E27FC236}">
                <a16:creationId xmlns:a16="http://schemas.microsoft.com/office/drawing/2014/main" id="{7112610D-2D88-4D24-87B1-C1983BDA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评价指标的计算口径</a:t>
            </a:r>
          </a:p>
        </p:txBody>
      </p:sp>
      <p:sp>
        <p:nvSpPr>
          <p:cNvPr id="3" name="metrics.text-2">
            <a:extLst xmlns:a="http://schemas.openxmlformats.org/drawingml/2006/main">
              <a:ext uri="{FF2B5EF4-FFF2-40B4-BE49-F238E27FC236}">
                <a16:creationId xmlns:a16="http://schemas.microsoft.com/office/drawing/2014/main" id="{2CDA5201-D35B-46F1-A41F-820BD98C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可行率、成本差异和速度各自回答不同问题</a:t>
            </a:r>
          </a:p>
        </p:txBody>
      </p:sp>
      <p:sp>
        <p:nvSpPr>
          <p:cNvPr id="4" name="metrics.text-3">
            <a:extLst xmlns:a="http://schemas.openxmlformats.org/drawingml/2006/main">
              <a:ext uri="{FF2B5EF4-FFF2-40B4-BE49-F238E27FC236}">
                <a16:creationId xmlns:a16="http://schemas.microsoft.com/office/drawing/2014/main" id="{98278A1E-6FB4-4C16-9D78-8F04D64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5" name="metrics.text-4">
            <a:extLst xmlns:a="http://schemas.openxmlformats.org/drawingml/2006/main">
              <a:ext uri="{FF2B5EF4-FFF2-40B4-BE49-F238E27FC236}">
                <a16:creationId xmlns:a16="http://schemas.microsoft.com/office/drawing/2014/main" id="{A9D3A1D5-C8F1-4E71-ACC6-94860D0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§VI-A · 原文统计口径</a:t>
            </a:r>
          </a:p>
        </p:txBody>
      </p:sp>
      <p:sp>
        <p:nvSpPr>
          <p:cNvPr id="6" name="metrics.text-5">
            <a:extLst xmlns:a="http://schemas.openxmlformats.org/drawingml/2006/main">
              <a:ext uri="{FF2B5EF4-FFF2-40B4-BE49-F238E27FC236}">
                <a16:creationId xmlns:a16="http://schemas.microsoft.com/office/drawing/2014/main" id="{36781053-3341-4129-8E68-FE5B139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metrics.text-6">
            <a:extLst xmlns:a="http://schemas.openxmlformats.org/drawingml/2006/main">
              <a:ext uri="{FF2B5EF4-FFF2-40B4-BE49-F238E27FC236}">
                <a16:creationId xmlns:a16="http://schemas.microsoft.com/office/drawing/2014/main" id="{DEAF3AF0-5ED7-4FEE-8087-B7FA6CDD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327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可行率</a:t>
            </a:r>
          </a:p>
        </p:txBody>
      </p:sp>
      <p:sp>
        <p:nvSpPr>
          <p:cNvPr id="8" name="metrics.text-7">
            <a:extLst xmlns:a="http://schemas.openxmlformats.org/drawingml/2006/main">
              <a:ext uri="{FF2B5EF4-FFF2-40B4-BE49-F238E27FC236}">
                <a16:creationId xmlns:a16="http://schemas.microsoft.com/office/drawing/2014/main" id="{8D339D88-9537-4698-8293-11D01F6C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66925"/>
            <a:ext cx="990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满足全部AC-OPF约束的测试样本数 / 测试样本总数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34501-4714-4A26-B12C-DA304F7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363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</a:ln>
        </p:spPr>
      </p:sp>
      <p:sp>
        <p:nvSpPr>
          <p:cNvPr id="10" name="metrics.text-8">
            <a:extLst xmlns:a="http://schemas.openxmlformats.org/drawingml/2006/main">
              <a:ext uri="{FF2B5EF4-FFF2-40B4-BE49-F238E27FC236}">
                <a16:creationId xmlns:a16="http://schemas.microsoft.com/office/drawing/2014/main" id="{83E3C756-3374-471C-B5EA-7EED0753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327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成本差异</a:t>
            </a:r>
          </a:p>
        </p:txBody>
      </p:sp>
      <p:sp>
        <p:nvSpPr>
          <p:cNvPr id="11" name="metrics.text-9">
            <a:extLst xmlns:a="http://schemas.openxmlformats.org/drawingml/2006/main">
              <a:ext uri="{FF2B5EF4-FFF2-40B4-BE49-F238E27FC236}">
                <a16:creationId xmlns:a16="http://schemas.microsoft.com/office/drawing/2014/main" id="{4A082473-AE4B-4F6C-B02D-F81616D3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29025"/>
            <a:ext cx="990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与Pypower参考解的发电成本比较，单位为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9FA8B-1AA4-462E-A51C-070BA3B4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1363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F"/>
            </a:solidFill>
          </a:ln>
        </p:spPr>
      </p:sp>
      <p:sp>
        <p:nvSpPr>
          <p:cNvPr id="13" name="metrics.text-10">
            <a:extLst xmlns:a="http://schemas.openxmlformats.org/drawingml/2006/main">
              <a:ext uri="{FF2B5EF4-FFF2-40B4-BE49-F238E27FC236}">
                <a16:creationId xmlns:a16="http://schemas.microsoft.com/office/drawing/2014/main" id="{D98AB82C-2E6F-44E6-8D79-1A0A942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327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平均加速比</a:t>
            </a:r>
          </a:p>
        </p:txBody>
      </p:sp>
      <p:sp>
        <p:nvSpPr>
          <p:cNvPr id="14" name="metrics.text-11">
            <a:extLst xmlns:a="http://schemas.openxmlformats.org/drawingml/2006/main">
              <a:ext uri="{FF2B5EF4-FFF2-40B4-BE49-F238E27FC236}">
                <a16:creationId xmlns:a16="http://schemas.microsoft.com/office/drawing/2014/main" id="{E5C2E9CC-2AC3-442D-B7C2-A08FE5A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6730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(1/N) Σₖ [ tPypower,k / tDeepOPF,k ]</a:t>
            </a:r>
          </a:p>
        </p:txBody>
      </p:sp>
      <p:sp>
        <p:nvSpPr>
          <p:cNvPr id="15" name="metrics.text-12">
            <a:extLst xmlns:a="http://schemas.openxmlformats.org/drawingml/2006/main">
              <a:ext uri="{FF2B5EF4-FFF2-40B4-BE49-F238E27FC236}">
                <a16:creationId xmlns:a16="http://schemas.microsoft.com/office/drawing/2014/main" id="{083671FE-F5C1-4EC5-ABF8-DECC5B4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105525"/>
            <a:ext cx="971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在线时间包含预测、重构与必要恢复</a:t>
            </a:r>
          </a:p>
        </p:txBody>
      </p:sp>
      <p:sp>
        <p:nvSpPr>
          <p:cNvPr id="16" name="metrics.text-13">
            <a:extLst xmlns:a="http://schemas.openxmlformats.org/drawingml/2006/main">
              <a:ext uri="{FF2B5EF4-FFF2-40B4-BE49-F238E27FC236}">
                <a16:creationId xmlns:a16="http://schemas.microsoft.com/office/drawing/2014/main" id="{AC173829-FAA8-41A6-AED0-A75A2D1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818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平均时间之比与逐样本比值的平均并不相同</a:t>
            </a:r>
          </a:p>
        </p:txBody>
      </p:sp>
    </p:spTree>
    <p:extLst>
      <p:ext uri="{BB962C8B-B14F-4D97-AF65-F5344CB8AC3E}">
        <p14:creationId xmlns:p14="http://schemas.microsoft.com/office/powerpoint/2010/main" val="20068496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sults-speed.node-1">
            <a:extLst xmlns:a="http://schemas.openxmlformats.org/drawingml/2006/main">
              <a:ext uri="{FF2B5EF4-FFF2-40B4-BE49-F238E27FC236}">
                <a16:creationId xmlns:a16="http://schemas.microsoft.com/office/drawing/2014/main" id="{CBF0789C-CD2E-4298-914E-6DB5723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results-speed.title">
            <a:extLst xmlns:a="http://schemas.openxmlformats.org/drawingml/2006/main">
              <a:ext uri="{FF2B5EF4-FFF2-40B4-BE49-F238E27FC236}">
                <a16:creationId xmlns:a16="http://schemas.microsoft.com/office/drawing/2014/main" id="{0E2D9255-13C3-4142-9CE6-3A53356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DeepOPF的计算加速结果</a:t>
            </a:r>
          </a:p>
        </p:txBody>
      </p:sp>
      <p:sp>
        <p:nvSpPr>
          <p:cNvPr id="3" name="results-speed.text-2">
            <a:extLst xmlns:a="http://schemas.openxmlformats.org/drawingml/2006/main">
              <a:ext uri="{FF2B5EF4-FFF2-40B4-BE49-F238E27FC236}">
                <a16:creationId xmlns:a16="http://schemas.microsoft.com/office/drawing/2014/main" id="{0A63F13E-2829-41C9-AA73-B193BC1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负荷分布与网络规模共同影响平均加速比</a:t>
            </a:r>
          </a:p>
        </p:txBody>
      </p:sp>
      <p:sp>
        <p:nvSpPr>
          <p:cNvPr id="4" name="results-speed.text-3">
            <a:extLst xmlns:a="http://schemas.openxmlformats.org/drawingml/2006/main">
              <a:ext uri="{FF2B5EF4-FFF2-40B4-BE49-F238E27FC236}">
                <a16:creationId xmlns:a16="http://schemas.microsoft.com/office/drawing/2014/main" id="{FDCB8664-5B1D-4B24-8260-80994EFF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5" name="results-speed.text-4">
            <a:extLst xmlns:a="http://schemas.openxmlformats.org/drawingml/2006/main">
              <a:ext uri="{FF2B5EF4-FFF2-40B4-BE49-F238E27FC236}">
                <a16:creationId xmlns:a16="http://schemas.microsoft.com/office/drawing/2014/main" id="{CD55B74D-A6F5-47B7-B5FC-1C75E86A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Tables IV–V · 原文报告值，未复现实验</a:t>
            </a:r>
          </a:p>
        </p:txBody>
      </p:sp>
      <p:sp>
        <p:nvSpPr>
          <p:cNvPr id="6" name="results-speed.text-5">
            <a:extLst xmlns:a="http://schemas.openxmlformats.org/drawingml/2006/main">
              <a:ext uri="{FF2B5EF4-FFF2-40B4-BE49-F238E27FC236}">
                <a16:creationId xmlns:a16="http://schemas.microsoft.com/office/drawing/2014/main" id="{42CA1FE8-99B6-48D5-826A-305C732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C143497-1CB6-4C34-AF55-D03A8B47EE89}"/>
              </a:ext>
            </a:extLst>
          </p:cNvPr>
          <p:cNvGraphicFramePr/>
          <p:nvPr/>
        </p:nvGraphicFramePr>
        <p:xfrm>
          <a:off xmlns:a="http://schemas.openxmlformats.org/drawingml/2006/main" x="685800" y="2009775"/>
          <a:ext xmlns:a="http://schemas.openxmlformats.org/drawingml/2006/main" cx="9496425" cy="5267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3e1aa2adf74b8e"/>
          </a:graphicData>
        </a:graphic>
      </p:graphicFrame>
      <p:sp>
        <p:nvSpPr>
          <p:cNvPr id="8" name="results-speed.text-6">
            <a:extLst xmlns:a="http://schemas.openxmlformats.org/drawingml/2006/main">
              <a:ext uri="{FF2B5EF4-FFF2-40B4-BE49-F238E27FC236}">
                <a16:creationId xmlns:a16="http://schemas.microsoft.com/office/drawing/2014/main" id="{1CF88F21-8B13-42EF-A85B-62FEC68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343150"/>
            <a:ext cx="3590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9" name="results-speed.text-7">
            <a:extLst xmlns:a="http://schemas.openxmlformats.org/drawingml/2006/main">
              <a:ext uri="{FF2B5EF4-FFF2-40B4-BE49-F238E27FC236}">
                <a16:creationId xmlns:a16="http://schemas.microsoft.com/office/drawing/2014/main" id="{7A0DFCD0-DDBA-4B47-BC36-1B7DE85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190875"/>
            <a:ext cx="3667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相对于 Pypower</a:t>
            </a:r>
          </a:p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包含可行性恢复时间</a:t>
            </a:r>
          </a:p>
        </p:txBody>
      </p:sp>
      <p:sp>
        <p:nvSpPr>
          <p:cNvPr id="10" name="results-speed.text-8">
            <a:extLst xmlns:a="http://schemas.openxmlformats.org/drawingml/2006/main">
              <a:ext uri="{FF2B5EF4-FFF2-40B4-BE49-F238E27FC236}">
                <a16:creationId xmlns:a16="http://schemas.microsoft.com/office/drawing/2014/main" id="{559D2B0C-6218-49B1-A55F-1573AF9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829175"/>
            <a:ext cx="3590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读取边界</a:t>
            </a:r>
          </a:p>
        </p:txBody>
      </p:sp>
      <p:sp>
        <p:nvSpPr>
          <p:cNvPr id="11" name="results-speed.text-9">
            <a:extLst xmlns:a="http://schemas.openxmlformats.org/drawingml/2006/main">
              <a:ext uri="{FF2B5EF4-FFF2-40B4-BE49-F238E27FC236}">
                <a16:creationId xmlns:a16="http://schemas.microsoft.com/office/drawing/2014/main" id="{A4F77A4C-69FE-4BFA-91EE-75EE7A03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95950"/>
            <a:ext cx="3667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2000母线为合成系统</a:t>
            </a:r>
          </a:p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负荷分布不同，速度不同</a:t>
            </a:r>
          </a:p>
        </p:txBody>
      </p:sp>
      <p:sp>
        <p:nvSpPr>
          <p:cNvPr id="12" name="results-speed.text-10">
            <a:extLst xmlns:a="http://schemas.openxmlformats.org/drawingml/2006/main">
              <a:ext uri="{FF2B5EF4-FFF2-40B4-BE49-F238E27FC236}">
                <a16:creationId xmlns:a16="http://schemas.microsoft.com/office/drawing/2014/main" id="{42F72A54-1746-4E2E-8ADA-C5CF3FBA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1360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横轴：母线数；试验硬件与数据设定见前页</a:t>
            </a:r>
          </a:p>
        </p:txBody>
      </p:sp>
    </p:spTree>
    <p:extLst>
      <p:ext uri="{BB962C8B-B14F-4D97-AF65-F5344CB8AC3E}">
        <p14:creationId xmlns:p14="http://schemas.microsoft.com/office/powerpoint/2010/main" val="17547336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sults-feasibility.node-1">
            <a:extLst xmlns:a="http://schemas.openxmlformats.org/drawingml/2006/main">
              <a:ext uri="{FF2B5EF4-FFF2-40B4-BE49-F238E27FC236}">
                <a16:creationId xmlns:a16="http://schemas.microsoft.com/office/drawing/2014/main" id="{7C6E4BDE-E27D-469D-B3C8-5644216A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results-feasibility.title">
            <a:extLst xmlns:a="http://schemas.openxmlformats.org/drawingml/2006/main">
              <a:ext uri="{FF2B5EF4-FFF2-40B4-BE49-F238E27FC236}">
                <a16:creationId xmlns:a16="http://schemas.microsoft.com/office/drawing/2014/main" id="{CC18ABB2-6040-4F5E-9B01-33299C6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恢复前的约束满足情况</a:t>
            </a:r>
          </a:p>
        </p:txBody>
      </p:sp>
      <p:sp>
        <p:nvSpPr>
          <p:cNvPr id="3" name="results-feasibility.text-2">
            <a:extLst xmlns:a="http://schemas.openxmlformats.org/drawingml/2006/main">
              <a:ext uri="{FF2B5EF4-FFF2-40B4-BE49-F238E27FC236}">
                <a16:creationId xmlns:a16="http://schemas.microsoft.com/office/drawing/2014/main" id="{696ED865-CC98-448C-A8E1-2A59BD8F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均匀采样负荷下，加入惩罚的方法改善测试可行率</a:t>
            </a:r>
          </a:p>
        </p:txBody>
      </p:sp>
      <p:sp>
        <p:nvSpPr>
          <p:cNvPr id="4" name="results-feasibility.text-3">
            <a:extLst xmlns:a="http://schemas.openxmlformats.org/drawingml/2006/main">
              <a:ext uri="{FF2B5EF4-FFF2-40B4-BE49-F238E27FC236}">
                <a16:creationId xmlns:a16="http://schemas.microsoft.com/office/drawing/2014/main" id="{833358B7-1AF3-4D84-89FA-4D06F1B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5" name="results-feasibility.text-4">
            <a:extLst xmlns:a="http://schemas.openxmlformats.org/drawingml/2006/main">
              <a:ext uri="{FF2B5EF4-FFF2-40B4-BE49-F238E27FC236}">
                <a16:creationId xmlns:a16="http://schemas.microsoft.com/office/drawing/2014/main" id="{69B54056-5FB9-45B9-BD63-47F7C057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Table IV · 本图展示恢复前，均匀采样负荷</a:t>
            </a:r>
          </a:p>
        </p:txBody>
      </p:sp>
      <p:sp>
        <p:nvSpPr>
          <p:cNvPr id="6" name="results-feasibility.text-5">
            <a:extLst xmlns:a="http://schemas.openxmlformats.org/drawingml/2006/main">
              <a:ext uri="{FF2B5EF4-FFF2-40B4-BE49-F238E27FC236}">
                <a16:creationId xmlns:a16="http://schemas.microsoft.com/office/drawing/2014/main" id="{604F8949-4E51-4868-8DBE-E7D68DA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F012F7E-2E82-4607-83B1-3E1AF896197F}"/>
              </a:ext>
            </a:extLst>
          </p:cNvPr>
          <p:cNvGraphicFramePr/>
          <p:nvPr/>
        </p:nvGraphicFramePr>
        <p:xfrm>
          <a:off xmlns:a="http://schemas.openxmlformats.org/drawingml/2006/main" x="695325" y="2009775"/>
          <a:ext xmlns:a="http://schemas.openxmlformats.org/drawingml/2006/main" cx="9553575" cy="5267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11358225294ff4"/>
          </a:graphicData>
        </a:graphic>
      </p:graphicFrame>
      <p:sp>
        <p:nvSpPr>
          <p:cNvPr id="8" name="results-feasibility.text-6">
            <a:extLst xmlns:a="http://schemas.openxmlformats.org/drawingml/2006/main">
              <a:ext uri="{FF2B5EF4-FFF2-40B4-BE49-F238E27FC236}">
                <a16:creationId xmlns:a16="http://schemas.microsoft.com/office/drawing/2014/main" id="{9E316952-9659-4F44-A154-E4AD763B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7647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测试可行率</a:t>
            </a:r>
          </a:p>
        </p:txBody>
      </p:sp>
      <p:sp>
        <p:nvSpPr>
          <p:cNvPr id="9" name="results-feasibility.text-7">
            <a:extLst xmlns:a="http://schemas.openxmlformats.org/drawingml/2006/main">
              <a:ext uri="{FF2B5EF4-FFF2-40B4-BE49-F238E27FC236}">
                <a16:creationId xmlns:a16="http://schemas.microsoft.com/office/drawing/2014/main" id="{BE7CC969-18F7-4EE5-9E9B-9C299A2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095625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实例的所有约束</a:t>
            </a:r>
          </a:p>
          <a:p xmlns:a="http://schemas.openxmlformats.org/drawingml/2006/main">
            <a:pPr algn="l">
              <a:def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均需满足</a:t>
            </a:r>
          </a:p>
        </p:txBody>
      </p:sp>
      <p:sp>
        <p:nvSpPr>
          <p:cNvPr id="10" name="results-feasibility.text-8">
            <a:extLst xmlns:a="http://schemas.openxmlformats.org/drawingml/2006/main">
              <a:ext uri="{FF2B5EF4-FFF2-40B4-BE49-F238E27FC236}">
                <a16:creationId xmlns:a16="http://schemas.microsoft.com/office/drawing/2014/main" id="{EA07D3E8-1C30-4137-A924-44FBB7F3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67250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恢复后的报告值</a:t>
            </a:r>
          </a:p>
        </p:txBody>
      </p:sp>
      <p:sp>
        <p:nvSpPr>
          <p:cNvPr id="11" name="results-feasibility.text-9">
            <a:extLst xmlns:a="http://schemas.openxmlformats.org/drawingml/2006/main">
              <a:ext uri="{FF2B5EF4-FFF2-40B4-BE49-F238E27FC236}">
                <a16:creationId xmlns:a16="http://schemas.microsoft.com/office/drawing/2014/main" id="{E0C01017-6345-40AB-97EE-256E000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514975"/>
            <a:ext cx="3667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两种方法均为100%</a:t>
            </a:r>
          </a:p>
          <a:p xmlns:a="http://schemas.openxmlformats.org/drawingml/2006/main">
            <a:pPr algn="l">
              <a:def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限于所测测试样本</a:t>
            </a:r>
          </a:p>
        </p:txBody>
      </p:sp>
      <p:sp>
        <p:nvSpPr>
          <p:cNvPr id="12" name="results-feasibility.text-10">
            <a:extLst xmlns:a="http://schemas.openxmlformats.org/drawingml/2006/main">
              <a:ext uri="{FF2B5EF4-FFF2-40B4-BE49-F238E27FC236}">
                <a16:creationId xmlns:a16="http://schemas.microsoft.com/office/drawing/2014/main" id="{295AA886-F43C-4710-9C06-28BC48D8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391400"/>
            <a:ext cx="13563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相关负荷曲线的结果见Table V，不与本图混用</a:t>
            </a:r>
          </a:p>
        </p:txBody>
      </p:sp>
    </p:spTree>
    <p:extLst>
      <p:ext uri="{BB962C8B-B14F-4D97-AF65-F5344CB8AC3E}">
        <p14:creationId xmlns:p14="http://schemas.microsoft.com/office/powerpoint/2010/main" val="2001819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enalty-tradeoff.node-1">
            <a:extLst xmlns:a="http://schemas.openxmlformats.org/drawingml/2006/main">
              <a:ext uri="{FF2B5EF4-FFF2-40B4-BE49-F238E27FC236}">
                <a16:creationId xmlns:a16="http://schemas.microsoft.com/office/drawing/2014/main" id="{45C9D90C-6456-420B-A223-2041C30E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enalty-tradeoff.title">
            <a:extLst xmlns:a="http://schemas.openxmlformats.org/drawingml/2006/main">
              <a:ext uri="{FF2B5EF4-FFF2-40B4-BE49-F238E27FC236}">
                <a16:creationId xmlns:a16="http://schemas.microsoft.com/office/drawing/2014/main" id="{361B414C-CA1F-461F-9195-F1EDAC63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惩罚权重与成本差异</a:t>
            </a:r>
          </a:p>
        </p:txBody>
      </p:sp>
      <p:sp>
        <p:nvSpPr>
          <p:cNvPr id="3" name="penalty-tradeoff.text-2">
            <a:extLst xmlns:a="http://schemas.openxmlformats.org/drawingml/2006/main">
              <a:ext uri="{FF2B5EF4-FFF2-40B4-BE49-F238E27FC236}">
                <a16:creationId xmlns:a16="http://schemas.microsoft.com/office/drawing/2014/main" id="{C043B51F-17C6-4624-BF2E-0182BB36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更大的惩罚权重需要结合经济性检查</a:t>
            </a:r>
          </a:p>
        </p:txBody>
      </p:sp>
      <p:sp>
        <p:nvSpPr>
          <p:cNvPr id="4" name="penalty-tradeoff.text-3">
            <a:extLst xmlns:a="http://schemas.openxmlformats.org/drawingml/2006/main">
              <a:ext uri="{FF2B5EF4-FFF2-40B4-BE49-F238E27FC236}">
                <a16:creationId xmlns:a16="http://schemas.microsoft.com/office/drawing/2014/main" id="{C9CFA21B-2E2D-4A7F-BF2A-E1AAC0C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5" name="penalty-tradeoff.text-4">
            <a:extLst xmlns:a="http://schemas.openxmlformats.org/drawingml/2006/main">
              <a:ext uri="{FF2B5EF4-FFF2-40B4-BE49-F238E27FC236}">
                <a16:creationId xmlns:a16="http://schemas.microsoft.com/office/drawing/2014/main" id="{DC2ECB47-FE06-4764-992A-99C95C5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§VI-C、Table VI · IEEE 118母线，均匀负荷</a:t>
            </a:r>
          </a:p>
        </p:txBody>
      </p:sp>
      <p:sp>
        <p:nvSpPr>
          <p:cNvPr id="6" name="penalty-tradeoff.text-5">
            <a:extLst xmlns:a="http://schemas.openxmlformats.org/drawingml/2006/main">
              <a:ext uri="{FF2B5EF4-FFF2-40B4-BE49-F238E27FC236}">
                <a16:creationId xmlns:a16="http://schemas.microsoft.com/office/drawing/2014/main" id="{DFA02AD8-53DB-4797-8D91-E15DC8B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AF501-BF7C-4EAA-8C6E-D50C860560E9}"/>
              </a:ext>
            </a:extLst>
          </p:cNvPr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13677900" cy="235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10075"/>
                <a:gridCol w="3314700"/>
                <a:gridCol w="2933700"/>
                <a:gridCol w="3019425"/>
              </a:tblGrid>
              <a:tr h="784225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权重设置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恢复前可行率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成本差异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平均加速比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</a:tr>
              <a:tr h="784225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w₁=1，w₂=1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4225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w₁=1，w₂=0.1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&lt;0.1%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21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22倍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8" name="penalty-tradeoff.text-6">
            <a:extLst xmlns:a="http://schemas.openxmlformats.org/drawingml/2006/main">
              <a:ext uri="{FF2B5EF4-FFF2-40B4-BE49-F238E27FC236}">
                <a16:creationId xmlns:a16="http://schemas.microsoft.com/office/drawing/2014/main" id="{37544E26-A52F-44F1-9066-1BB0CE75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已有观察</a:t>
            </a:r>
          </a:p>
        </p:txBody>
      </p:sp>
      <p:sp>
        <p:nvSpPr>
          <p:cNvPr id="9" name="penalty-tradeoff.text-7">
            <a:extLst xmlns:a="http://schemas.openxmlformats.org/drawingml/2006/main">
              <a:ext uri="{FF2B5EF4-FFF2-40B4-BE49-F238E27FC236}">
                <a16:creationId xmlns:a16="http://schemas.microsoft.com/office/drawing/2014/main" id="{2EDB031D-4FF1-4C9B-B753-5EB9EC4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76925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两组测试可行率与速度相同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成本差异不同</a:t>
            </a:r>
          </a:p>
        </p:txBody>
      </p:sp>
      <p:sp>
        <p:nvSpPr>
          <p:cNvPr id="10" name="penalty-tradeoff.text-8">
            <a:extLst xmlns:a="http://schemas.openxmlformats.org/drawingml/2006/main">
              <a:ext uri="{FF2B5EF4-FFF2-40B4-BE49-F238E27FC236}">
                <a16:creationId xmlns:a16="http://schemas.microsoft.com/office/drawing/2014/main" id="{9C88B5DD-FBD8-4D21-A2DB-B5E0081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38750"/>
            <a:ext cx="6315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1" name="penalty-tradeoff.text-9">
            <a:extLst xmlns:a="http://schemas.openxmlformats.org/drawingml/2006/main">
              <a:ext uri="{FF2B5EF4-FFF2-40B4-BE49-F238E27FC236}">
                <a16:creationId xmlns:a16="http://schemas.microsoft.com/office/drawing/2014/main" id="{24FD17A0-D4C8-4008-92E1-5947123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876925"/>
            <a:ext cx="631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权重需要按评价目标调整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不能据两组实验给出通用最优值</a:t>
            </a:r>
          </a:p>
        </p:txBody>
      </p:sp>
      <p:sp>
        <p:nvSpPr>
          <p:cNvPr id="12" name="penalty-tradeoff.text-10">
            <a:extLst xmlns:a="http://schemas.openxmlformats.org/drawingml/2006/main">
              <a:ext uri="{FF2B5EF4-FFF2-40B4-BE49-F238E27FC236}">
                <a16:creationId xmlns:a16="http://schemas.microsoft.com/office/drawing/2014/main" id="{CD0BB571-22B2-4F4C-9A0A-FBC57357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818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“&lt;0.1%”是范围信息，不能绘制成精确的0.1%柱高</a:t>
            </a:r>
          </a:p>
        </p:txBody>
      </p:sp>
    </p:spTree>
    <p:extLst>
      <p:ext uri="{BB962C8B-B14F-4D97-AF65-F5344CB8AC3E}">
        <p14:creationId xmlns:p14="http://schemas.microsoft.com/office/powerpoint/2010/main" val="1065776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oundaries.node-1">
            <a:extLst xmlns:a="http://schemas.openxmlformats.org/drawingml/2006/main">
              <a:ext uri="{FF2B5EF4-FFF2-40B4-BE49-F238E27FC236}">
                <a16:creationId xmlns:a16="http://schemas.microsoft.com/office/drawing/2014/main" id="{80AAC952-F057-4F99-B7F9-7D1C75E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boundaries.title">
            <a:extLst xmlns:a="http://schemas.openxmlformats.org/drawingml/2006/main">
              <a:ext uri="{FF2B5EF4-FFF2-40B4-BE49-F238E27FC236}">
                <a16:creationId xmlns:a16="http://schemas.microsoft.com/office/drawing/2014/main" id="{4F0BCBA8-DFCF-4853-AF50-D73E0B7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结果解读的适用边界</a:t>
            </a:r>
          </a:p>
        </p:txBody>
      </p:sp>
      <p:sp>
        <p:nvSpPr>
          <p:cNvPr id="3" name="boundaries.text-2">
            <a:extLst xmlns:a="http://schemas.openxmlformats.org/drawingml/2006/main">
              <a:ext uri="{FF2B5EF4-FFF2-40B4-BE49-F238E27FC236}">
                <a16:creationId xmlns:a16="http://schemas.microsoft.com/office/drawing/2014/main" id="{28DC1C32-229C-4D3A-9545-0679DE9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版本、负荷范围与评价阶段都影响结论</a:t>
            </a:r>
          </a:p>
        </p:txBody>
      </p:sp>
      <p:sp>
        <p:nvSpPr>
          <p:cNvPr id="4" name="boundaries.text-3">
            <a:extLst xmlns:a="http://schemas.openxmlformats.org/drawingml/2006/main">
              <a:ext uri="{FF2B5EF4-FFF2-40B4-BE49-F238E27FC236}">
                <a16:creationId xmlns:a16="http://schemas.microsoft.com/office/drawing/2014/main" id="{645836DC-B39B-4731-AE55-7E275FE5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5" name="boundaries.text-4">
            <a:extLst xmlns:a="http://schemas.openxmlformats.org/drawingml/2006/main">
              <a:ext uri="{FF2B5EF4-FFF2-40B4-BE49-F238E27FC236}">
                <a16:creationId xmlns:a16="http://schemas.microsoft.com/office/drawing/2014/main" id="{C6A20FCF-F9F3-4077-99AD-7761E37A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来源：DeepOPF v6 Tables IV–V；arXiv网页摘要 · 未做部署验证</a:t>
            </a:r>
          </a:p>
        </p:txBody>
      </p:sp>
      <p:sp>
        <p:nvSpPr>
          <p:cNvPr id="6" name="boundaries.text-5">
            <a:extLst xmlns:a="http://schemas.openxmlformats.org/drawingml/2006/main">
              <a:ext uri="{FF2B5EF4-FFF2-40B4-BE49-F238E27FC236}">
                <a16:creationId xmlns:a16="http://schemas.microsoft.com/office/drawing/2014/main" id="{AE064939-5350-4DFA-839B-694871F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D635A-0933-47D5-A9F5-F5E235762329}"/>
              </a:ext>
            </a:extLst>
          </p:cNvPr>
          <p:cNvGraphicFramePr/>
          <p:nvPr/>
        </p:nvGraphicFramePr>
        <p:xfrm>
          <a:off xmlns:a="http://schemas.openxmlformats.org/drawingml/2006/main" x="771525" y="2143125"/>
          <a:ext xmlns:a="http://schemas.openxmlformats.org/drawingml/2006/main" cx="1369695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6124575"/>
                <a:gridCol w="5124450"/>
              </a:tblGrid>
              <a:tr h="81153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本案例采用的证据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solidFill>
                      <a:srgbClr val="66398B"/>
                    </a:solidFill>
                  </a:tcPr>
                </a:tc>
              </a:tr>
              <a:tr h="81153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成本差异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Table IV：&lt;0.1%；Table V部分算例：&lt;0.2%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不合并成统一&lt;0.1%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恢复前与恢复后分别报告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测试可行率不等于全域保证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  <a:tr h="81153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原文硬件、负荷与计时条件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最大加速比不能推广到所有工况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1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新工况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固定网络下的训练与测试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pPr algn="l"/>
                      <a:r>
                        <a:rPr sz="1875" b="0">
                          <a:solidFill>
                            <a:srgbClr val="24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拓扑变化、分布外输入需另行验证</a:t>
                      </a:r>
                    </a:p>
                  </a:txBody>
                  <a:tcPr marL="91440" marR="91440" marT="45720" marB="45720" anchor="ctr"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8" name="boundaries.text-6">
            <a:extLst xmlns:a="http://schemas.openxmlformats.org/drawingml/2006/main">
              <a:ext uri="{FF2B5EF4-FFF2-40B4-BE49-F238E27FC236}">
                <a16:creationId xmlns:a16="http://schemas.microsoft.com/office/drawing/2014/main" id="{9CBD9E57-F61C-4B2D-80B0-E1F52B3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77025"/>
            <a:ext cx="13477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来源差异：网页摘要写 &lt;0.1%，最新版PDF摘要写 &lt;0.2%</a:t>
            </a:r>
          </a:p>
        </p:txBody>
      </p:sp>
      <p:sp>
        <p:nvSpPr>
          <p:cNvPr id="9" name="boundaries.text-7">
            <a:extLst xmlns:a="http://schemas.openxmlformats.org/drawingml/2006/main">
              <a:ext uri="{FF2B5EF4-FFF2-40B4-BE49-F238E27FC236}">
                <a16:creationId xmlns:a16="http://schemas.microsoft.com/office/drawing/2014/main" id="{09FE43A6-CF62-48C0-989E-791683F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77100"/>
            <a:ext cx="1347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本报告按具体结果表标明条件，保留差异，不自行纠正原文</a:t>
            </a:r>
          </a:p>
        </p:txBody>
      </p:sp>
    </p:spTree>
    <p:extLst>
      <p:ext uri="{BB962C8B-B14F-4D97-AF65-F5344CB8AC3E}">
        <p14:creationId xmlns:p14="http://schemas.microsoft.com/office/powerpoint/2010/main" val="3189228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F3536-E0B4-43D3-B252-EAA1816D3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0dbcb81ba4bf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research-extension.node-8">
            <a:extLst xmlns:a="http://schemas.openxmlformats.org/drawingml/2006/main">
              <a:ext uri="{FF2B5EF4-FFF2-40B4-BE49-F238E27FC236}">
                <a16:creationId xmlns:a16="http://schemas.microsoft.com/office/drawing/2014/main" id="{2E5B6188-7D95-40CA-84BF-321B1FE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research-extension.title">
            <a:extLst xmlns:a="http://schemas.openxmlformats.org/drawingml/2006/main">
              <a:ext uri="{FF2B5EF4-FFF2-40B4-BE49-F238E27FC236}">
                <a16:creationId xmlns:a16="http://schemas.microsoft.com/office/drawing/2014/main" id="{7FC085F1-1CE4-4FAE-9DE1-001983CB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可开展的交叉研究验证</a:t>
            </a:r>
          </a:p>
        </p:txBody>
      </p:sp>
      <p:sp>
        <p:nvSpPr>
          <p:cNvPr id="4" name="research-extension.text-9">
            <a:extLst xmlns:a="http://schemas.openxmlformats.org/drawingml/2006/main">
              <a:ext uri="{FF2B5EF4-FFF2-40B4-BE49-F238E27FC236}">
                <a16:creationId xmlns:a16="http://schemas.microsoft.com/office/drawing/2014/main" id="{544AFAF4-4505-455B-9794-F8652DE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57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5" name="research-extension.node-10">
            <a:extLst xmlns:a="http://schemas.openxmlformats.org/drawingml/2006/main">
              <a:ext uri="{FF2B5EF4-FFF2-40B4-BE49-F238E27FC236}">
                <a16:creationId xmlns:a16="http://schemas.microsoft.com/office/drawing/2014/main" id="{0944DDE9-1C9A-4758-8BFF-9B4CE3A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15325"/>
            <a:ext cx="15240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research-extension.text-11">
            <a:extLst xmlns:a="http://schemas.openxmlformats.org/drawingml/2006/main">
              <a:ext uri="{FF2B5EF4-FFF2-40B4-BE49-F238E27FC236}">
                <a16:creationId xmlns:a16="http://schemas.microsoft.com/office/drawing/2014/main" id="{3712A35B-18CC-423F-8EFF-4FD41367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334375"/>
            <a:ext cx="1400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原创研究建议 · 待实际实验验证</a:t>
            </a:r>
          </a:p>
        </p:txBody>
      </p:sp>
      <p:sp>
        <p:nvSpPr>
          <p:cNvPr id="7" name="research-extension.text-12">
            <a:extLst xmlns:a="http://schemas.openxmlformats.org/drawingml/2006/main">
              <a:ext uri="{FF2B5EF4-FFF2-40B4-BE49-F238E27FC236}">
                <a16:creationId xmlns:a16="http://schemas.microsoft.com/office/drawing/2014/main" id="{EFC60EE5-7C12-4C86-A590-CBC389F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83248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8723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nclusion.node-1">
            <a:extLst xmlns:a="http://schemas.openxmlformats.org/drawingml/2006/main">
              <a:ext uri="{FF2B5EF4-FFF2-40B4-BE49-F238E27FC236}">
                <a16:creationId xmlns:a16="http://schemas.microsoft.com/office/drawing/2014/main" id="{696DDF50-C624-4C72-A3C8-0C3D555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398B"/>
          </a:solidFill>
          <a:ln xmlns:a="http://schemas.openxmlformats.org/drawingml/2006/main" w="12383">
            <a:solidFill>
              <a:srgbClr val="CAD5DF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conclusion.title">
            <a:extLst xmlns:a="http://schemas.openxmlformats.org/drawingml/2006/main">
              <a:ext uri="{FF2B5EF4-FFF2-40B4-BE49-F238E27FC236}">
                <a16:creationId xmlns:a16="http://schemas.microsoft.com/office/drawing/2014/main" id="{575D2947-C3CD-4F24-B265-3E025FD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"/>
            <a:ext cx="1271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结论与主要参考文献</a:t>
            </a:r>
          </a:p>
        </p:txBody>
      </p:sp>
      <p:sp>
        <p:nvSpPr>
          <p:cNvPr id="3" name="conclusion.text-2">
            <a:extLst xmlns:a="http://schemas.openxmlformats.org/drawingml/2006/main">
              <a:ext uri="{FF2B5EF4-FFF2-40B4-BE49-F238E27FC236}">
                <a16:creationId xmlns:a16="http://schemas.microsoft.com/office/drawing/2014/main" id="{BC33E8D1-FD36-4359-8B08-1B8E700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409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学习、物理重构与验证需要共同评价</a:t>
            </a:r>
          </a:p>
        </p:txBody>
      </p:sp>
      <p:sp>
        <p:nvSpPr>
          <p:cNvPr id="4" name="conclusion.text-3">
            <a:extLst xmlns:a="http://schemas.openxmlformats.org/drawingml/2006/main">
              <a:ext uri="{FF2B5EF4-FFF2-40B4-BE49-F238E27FC236}">
                <a16:creationId xmlns:a16="http://schemas.microsoft.com/office/drawing/2014/main" id="{5CDF9616-6013-4DEF-A93B-6203C85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952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conclusion.text-4">
            <a:extLst xmlns:a="http://schemas.openxmlformats.org/drawingml/2006/main">
              <a:ext uri="{FF2B5EF4-FFF2-40B4-BE49-F238E27FC236}">
                <a16:creationId xmlns:a16="http://schemas.microsoft.com/office/drawing/2014/main" id="{F5856AF8-8A83-4433-B237-2D2949D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72425"/>
            <a:ext cx="1314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D7D"/>
                </a:solidFill>
                <a:latin typeface="Microsoft YaHei"/>
                <a:ea typeface="Microsoft YaHei"/>
                <a:cs typeface="Microsoft YaHei"/>
              </a:rPr>
              <a:t>公开文献分析 · 原文数值报告，未复现训练与实验</a:t>
            </a:r>
          </a:p>
        </p:txBody>
      </p:sp>
      <p:sp>
        <p:nvSpPr>
          <p:cNvPr id="6" name="conclusion.text-5">
            <a:extLst xmlns:a="http://schemas.openxmlformats.org/drawingml/2006/main">
              <a:ext uri="{FF2B5EF4-FFF2-40B4-BE49-F238E27FC236}">
                <a16:creationId xmlns:a16="http://schemas.microsoft.com/office/drawing/2014/main" id="{20FAA92E-6B1D-4F0E-8F93-C216CD68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152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conclusion.text-6">
            <a:extLst xmlns:a="http://schemas.openxmlformats.org/drawingml/2006/main">
              <a:ext uri="{FF2B5EF4-FFF2-40B4-BE49-F238E27FC236}">
                <a16:creationId xmlns:a16="http://schemas.microsoft.com/office/drawing/2014/main" id="{3C931D5A-A506-4F62-9C13-14D50AF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56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6EAA"/>
                </a:solidFill>
                <a:latin typeface="Microsoft YaHei"/>
                <a:ea typeface="Microsoft YaHei"/>
                <a:cs typeface="Microsoft YaHei"/>
              </a:rPr>
              <a:t>方法认识</a:t>
            </a:r>
          </a:p>
        </p:txBody>
      </p:sp>
      <p:sp>
        <p:nvSpPr>
          <p:cNvPr id="8" name="conclusion.text-7">
            <a:extLst xmlns:a="http://schemas.openxmlformats.org/drawingml/2006/main">
              <a:ext uri="{FF2B5EF4-FFF2-40B4-BE49-F238E27FC236}">
                <a16:creationId xmlns:a16="http://schemas.microsoft.com/office/drawing/2014/main" id="{E4CE6C2F-2459-4D7C-B8EE-B475877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6562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预测部分变量，再由潮流重构其余变量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经济性与可行性分别评价</a:t>
            </a:r>
          </a:p>
        </p:txBody>
      </p:sp>
      <p:sp>
        <p:nvSpPr>
          <p:cNvPr id="9" name="conclusion.text-8">
            <a:extLst xmlns:a="http://schemas.openxmlformats.org/drawingml/2006/main">
              <a:ext uri="{FF2B5EF4-FFF2-40B4-BE49-F238E27FC236}">
                <a16:creationId xmlns:a16="http://schemas.microsoft.com/office/drawing/2014/main" id="{051BA3A7-378D-40C9-9016-599974FA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656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E927B"/>
                </a:solidFill>
                <a:latin typeface="Microsoft YaHei"/>
                <a:ea typeface="Microsoft YaHei"/>
                <a:cs typeface="Microsoft YaHei"/>
              </a:rPr>
              <a:t>证据结论</a:t>
            </a:r>
          </a:p>
        </p:txBody>
      </p:sp>
      <p:sp>
        <p:nvSpPr>
          <p:cNvPr id="10" name="conclusion.text-9">
            <a:extLst xmlns:a="http://schemas.openxmlformats.org/drawingml/2006/main">
              <a:ext uri="{FF2B5EF4-FFF2-40B4-BE49-F238E27FC236}">
                <a16:creationId xmlns:a16="http://schemas.microsoft.com/office/drawing/2014/main" id="{8C83AC0B-8E26-46D0-8AC7-FF1FC809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562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Tables IV–V显示速度与可行性的改善</a:t>
            </a:r>
          </a:p>
          <a:p xmlns:a="http://schemas.openxmlformats.org/drawingml/2006/main">
            <a:pPr algn="l">
              <a:def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结果限定在原文的算例与实验条件</a:t>
            </a:r>
          </a:p>
        </p:txBody>
      </p:sp>
      <p:sp>
        <p:nvSpPr>
          <p:cNvPr id="11" name="conclusion.text-10">
            <a:extLst xmlns:a="http://schemas.openxmlformats.org/drawingml/2006/main">
              <a:ext uri="{FF2B5EF4-FFF2-40B4-BE49-F238E27FC236}">
                <a16:creationId xmlns:a16="http://schemas.microsoft.com/office/drawing/2014/main" id="{84613467-6B93-4461-BAB1-E3D6C16B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029450"/>
            <a:ext cx="1364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应用边界：新拓扑、新分布与实际运行仍需验证</a:t>
            </a:r>
          </a:p>
        </p:txBody>
      </p:sp>
      <p:sp>
        <p:nvSpPr>
          <p:cNvPr id="12" name="conclusion.text-11">
            <a:extLst xmlns:a="http://schemas.openxmlformats.org/drawingml/2006/main">
              <a:ext uri="{FF2B5EF4-FFF2-40B4-BE49-F238E27FC236}">
                <a16:creationId xmlns:a16="http://schemas.microsoft.com/office/drawing/2014/main" id="{9285D891-1AA0-458D-9BD4-CBC2C93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62150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6398B"/>
                </a:solidFill>
                <a:latin typeface="Microsoft YaHei"/>
                <a:ea typeface="Microsoft YaHei"/>
                <a:cs typeface="Microsoft YaHei"/>
              </a:rPr>
              <a:t>主要参考文献</a:t>
            </a:r>
          </a:p>
        </p:txBody>
      </p:sp>
      <p:sp>
        <p:nvSpPr>
          <p:cNvPr id="13" name="conclusion.text-12">
            <a:extLst xmlns:a="http://schemas.openxmlformats.org/drawingml/2006/main">
              <a:ext uri="{FF2B5EF4-FFF2-40B4-BE49-F238E27FC236}">
                <a16:creationId xmlns:a16="http://schemas.microsoft.com/office/drawing/2014/main" id="{99D73A5E-3164-41D3-9695-DCBD6F39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33675"/>
            <a:ext cx="6372225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[1] Pan et al. DeepOPF（AC-OPF）</a:t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arXiv:2007.01002v6，2022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[2] Zhao et al. DeepOPF+（DC-OPF）</a:t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arXiv:2009.03147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[3] Huang et al. DeepOPF-V（电压预测）</a:t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arXiv:2103.11793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[4] MATPOWER User Manual，§4、§6</a:t>
            </a:r>
          </a:p>
          <a:p xmlns:a="http://schemas.openxmlformats.org/drawingml/2006/main">
            <a:pPr algn="l">
              <a:def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3747"/>
                </a:solidFill>
                <a:latin typeface="Microsoft YaHei"/>
                <a:ea typeface="Microsoft YaHei"/>
                <a:cs typeface="Microsoft YaHei"/>
              </a:rPr>
              <a:t>matpower.org/docs/MATPOWER-manual.pdf</a:t>
            </a:r>
          </a:p>
        </p:txBody>
      </p:sp>
    </p:spTree>
    <p:extLst>
      <p:ext uri="{BB962C8B-B14F-4D97-AF65-F5344CB8AC3E}">
        <p14:creationId xmlns:p14="http://schemas.microsoft.com/office/powerpoint/2010/main" val="580920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2026-10-10T12:04:30.2650000Z</dcterms:created>
  <dcterms:modified xsi:type="dcterms:W3CDTF">2026-10-10T12:04:30.2650000Z</dcterms:modified>
</coreProperties>
</file>