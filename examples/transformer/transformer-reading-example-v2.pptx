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b080b8c5754bb8" /><Relationship Type="http://schemas.openxmlformats.org/officeDocument/2006/relationships/extended-properties" Target="/docProps/app.xml" Id="R78c1192e7e744fc0" /><Relationship Type="http://schemas.openxmlformats.org/officeDocument/2006/relationships/officeDocument" Target="/ppt/presentation.xml" Id="R090f682706144a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7837499b594717"/>
  </p:sldMasterIdLst>
  <p:notesMasterIdLst>
    <p:notesMasterId xmlns:r="http://schemas.openxmlformats.org/officeDocument/2006/relationships" r:id="Rbbfb584ad5d24d70"/>
  </p:notesMasterIdLst>
  <p:sldIdLst>
    <p:sldId xmlns:r="http://schemas.openxmlformats.org/officeDocument/2006/relationships" id="256" r:id="Rd154930fc74d4f6d"/>
    <p:sldId xmlns:r="http://schemas.openxmlformats.org/officeDocument/2006/relationships" id="257" r:id="R915eac9e24474c02"/>
    <p:sldId xmlns:r="http://schemas.openxmlformats.org/officeDocument/2006/relationships" id="258" r:id="R011597a6d9204ca7"/>
    <p:sldId xmlns:r="http://schemas.openxmlformats.org/officeDocument/2006/relationships" id="259" r:id="R27b7e36b93014a00"/>
    <p:sldId xmlns:r="http://schemas.openxmlformats.org/officeDocument/2006/relationships" id="260" r:id="R2f04edd7ba0f42ed"/>
    <p:sldId xmlns:r="http://schemas.openxmlformats.org/officeDocument/2006/relationships" id="261" r:id="R49cca13c621141e8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1087df38774917" /><Relationship Type="http://schemas.openxmlformats.org/officeDocument/2006/relationships/slideMaster" Target="/ppt/slideMasters/slideMaster1.xml" Id="Ra17837499b594717" /><Relationship Type="http://schemas.openxmlformats.org/officeDocument/2006/relationships/notesMaster" Target="/ppt/notesMasters/notesMaster1.xml" Id="Rbbfb584ad5d24d70" /><Relationship Type="http://schemas.openxmlformats.org/officeDocument/2006/relationships/presProps" Target="/ppt/presProps.xml" Id="R210b515c4a6f4637" /><Relationship Type="http://schemas.openxmlformats.org/officeDocument/2006/relationships/tableStyles" Target="/ppt/tableStyles.xml" Id="Re66843cf7567445b" /><Relationship Type="http://schemas.openxmlformats.org/officeDocument/2006/relationships/slide" Target="/ppt/slides/slide1.xml" Id="Rd154930fc74d4f6d" /><Relationship Type="http://schemas.openxmlformats.org/officeDocument/2006/relationships/slide" Target="/ppt/slides/slide2.xml" Id="R915eac9e24474c02" /><Relationship Type="http://schemas.openxmlformats.org/officeDocument/2006/relationships/slide" Target="/ppt/slides/slide3.xml" Id="R011597a6d9204ca7" /><Relationship Type="http://schemas.openxmlformats.org/officeDocument/2006/relationships/slide" Target="/ppt/slides/slide4.xml" Id="R27b7e36b93014a00" /><Relationship Type="http://schemas.openxmlformats.org/officeDocument/2006/relationships/slide" Target="/ppt/slides/slide5.xml" Id="R2f04edd7ba0f42ed" /><Relationship Type="http://schemas.openxmlformats.org/officeDocument/2006/relationships/slide" Target="/ppt/slides/slide6.xml" Id="R49cca13c621141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6cf719886649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930aee7bf84c85" /><Relationship Type="http://schemas.openxmlformats.org/officeDocument/2006/relationships/notesMaster" Target="/ppt/notesMasters/notesMaster1.xml" Id="R91ac6c4a67d444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740df727574c3a" /><Relationship Type="http://schemas.openxmlformats.org/officeDocument/2006/relationships/notesMaster" Target="/ppt/notesMasters/notesMaster1.xml" Id="Ra1170e1f02ae492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a1f8f3b86cb46a8" /><Relationship Type="http://schemas.openxmlformats.org/officeDocument/2006/relationships/notesMaster" Target="/ppt/notesMasters/notesMaster1.xml" Id="R8061791391654b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a948125d4e4b65" /><Relationship Type="http://schemas.openxmlformats.org/officeDocument/2006/relationships/notesMaster" Target="/ppt/notesMasters/notesMaster1.xml" Id="Rcd303da9d5a149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a4cf1515394822" /><Relationship Type="http://schemas.openxmlformats.org/officeDocument/2006/relationships/notesMaster" Target="/ppt/notesMasters/notesMaster1.xml" Id="R8a19ba3cbd72460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a9c0080e1f34826" /><Relationship Type="http://schemas.openxmlformats.org/officeDocument/2006/relationships/notesMaster" Target="/ppt/notesMasters/notesMaster1.xml" Id="R21b225a5660b40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以两种连接方式引入论文的问题。节点是位置示意，连线没有表示学习到的真实权重。接下来介绍编码器与解码器的分工。</a:t>
            </a:r>
          </a:p>
          <a:p xmlns:a="http://schemas.openxmlformats.org/drawingml/2006/main">
            <a:r>
              <a:t>来源：https://research.google/blog/transformer-a-novel-neural-network-architecture-for-language-understanding/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沿两列讲解输入和处理顺序，再解释中间的交叉注意力。请明确本页省略了重复层内部的残差连接与归一化，不能据此当作完整实现图。</a:t>
            </a:r>
          </a:p>
          <a:p xmlns:a="http://schemas.openxmlformats.org/drawingml/2006/main">
            <a:r>
              <a:t>来源：https://arxiv.org/pdf/1706.03762#page=3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按查询与键、相似度、缩放与归一化、值的加权输出顺序解释公式。图中没有模拟或真实的注意力权重，箭头只表示计算依赖。</a:t>
            </a:r>
          </a:p>
          <a:p xmlns:a="http://schemas.openxmlformats.org/drawingml/2006/main">
            <a:r>
              <a:t>来源：https://arxiv.org/pdf/1706.03762#page=4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这是一页论文阅读框架，不能把原文实验变成本项目已经执行的训练。对照下一页时先确认都是英德方向及原文测试口径。</a:t>
            </a:r>
          </a:p>
          <a:p xmlns:a="http://schemas.openxmlformats.org/drawingml/2006/main">
            <a:r>
              <a:t>来源：https://arxiv.org/pdf/1706.03762#page=8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先读图轴与指标，再比较三个原文报告值。没有置信区间，不做统计显著性的声明；没有重新训练，不声称复现成功。</a:t>
            </a:r>
          </a:p>
          <a:p xmlns:a="http://schemas.openxmlformats.org/drawingml/2006/main">
            <a:r>
              <a:t>来源：https://arxiv.org/pdf/1706.03762#page=8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用这页收束研究结论的范围。右侧是阅读时发现的来源冲突，未擅自修改原文。实际课题应进一步查勘误、原始记录或作者说明。</a:t>
            </a:r>
          </a:p>
          <a:p xmlns:a="http://schemas.openxmlformats.org/drawingml/2006/main">
            <a:r>
              <a:t>来源：https://arxiv.org/pdf/1706.03762#page=8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dbc171abf344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a24563bf254ee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78c70101748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458504a33d4d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dee6d6431c4ea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f88384251845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D5D9096-ADE9-4235-8A9F-367E930DAF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FA113C-1215-443C-8E0A-93B9CA666E0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06461D-FB4F-435B-8118-0FB787739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FAE027-D8E5-44F9-97DD-F8E59280C5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E51123D-2DBE-4CD5-913C-EFA5E57B8DA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0807273-DBF0-4BEB-A46C-25C9A2D27C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30DE8B5-F172-4A6E-ADFE-352DF34553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58F6E521-8DC8-42CC-A9E7-15AE9E032A7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28C24F-3105-4FA9-89CD-20049A70DD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3C03EE-C04F-4369-BFFD-FB0B2FF556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9acaf9ac974804" /><Relationship Type="http://schemas.openxmlformats.org/officeDocument/2006/relationships/slideLayout" Target="/ppt/slideLayouts/slideLayout1.xml" Id="R37827315fa3c4923" /><Relationship Type="http://schemas.openxmlformats.org/officeDocument/2006/relationships/slideLayout" Target="/ppt/slideLayouts/slideLayout2.xml" Id="Rdf43fe2886f64f59" /><Relationship Type="http://schemas.openxmlformats.org/officeDocument/2006/relationships/slideLayout" Target="/ppt/slideLayouts/slideLayout3.xml" Id="R55d5e968fc7c4c1e" /><Relationship Type="http://schemas.openxmlformats.org/officeDocument/2006/relationships/slideLayout" Target="/ppt/slideLayouts/slideLayout4.xml" Id="R3a8c03cbec7b4d2e" /><Relationship Type="http://schemas.openxmlformats.org/officeDocument/2006/relationships/slideLayout" Target="/ppt/slideLayouts/slideLayout5.xml" Id="R1cca677a5f064f75" /><Relationship Type="http://schemas.openxmlformats.org/officeDocument/2006/relationships/slideLayout" Target="/ppt/slideLayouts/slideLayout6.xml" Id="R01f7e421cdb24f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827315fa3c4923"/>
    <p:sldLayoutId xmlns:r="http://schemas.openxmlformats.org/officeDocument/2006/relationships" id="2147483650" r:id="Rdf43fe2886f64f59"/>
    <p:sldLayoutId xmlns:r="http://schemas.openxmlformats.org/officeDocument/2006/relationships" id="2147483651" r:id="R55d5e968fc7c4c1e"/>
    <p:sldLayoutId xmlns:r="http://schemas.openxmlformats.org/officeDocument/2006/relationships" id="2147483652" r:id="R3a8c03cbec7b4d2e"/>
    <p:sldLayoutId xmlns:r="http://schemas.openxmlformats.org/officeDocument/2006/relationships" id="2147483653" r:id="R1cca677a5f064f75"/>
    <p:sldLayoutId xmlns:r="http://schemas.openxmlformats.org/officeDocument/2006/relationships" id="2147483654" r:id="R01f7e421cdb24f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99ec6a62c2424a" /><Relationship Type="http://schemas.openxmlformats.org/officeDocument/2006/relationships/notesSlide" Target="/ppt/notesSlides/notesSlide1.xml" Id="R16005b02f12148c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882ad7c3084f76" /><Relationship Type="http://schemas.openxmlformats.org/officeDocument/2006/relationships/notesSlide" Target="/ppt/notesSlides/notesSlide2.xml" Id="R31fb8bff6c8f45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78df74dfff4a80" /><Relationship Type="http://schemas.openxmlformats.org/officeDocument/2006/relationships/notesSlide" Target="/ppt/notesSlides/notesSlide3.xml" Id="Rb3cbd922230b4ab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0cb474195a42d2" /><Relationship Type="http://schemas.openxmlformats.org/officeDocument/2006/relationships/notesSlide" Target="/ppt/notesSlides/notesSlide4.xml" Id="R8a60d4f100e742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0b89b77a5e4505" /><Relationship Type="http://schemas.openxmlformats.org/officeDocument/2006/relationships/chart" Target="/ppt/slides/charts/chart1.xml" Id="Rdc6cfe72dca74fe1" /><Relationship Type="http://schemas.openxmlformats.org/officeDocument/2006/relationships/notesSlide" Target="/ppt/notesSlides/notesSlide5.xml" Id="R51e51a1faf3f4a4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f0373daa44a30" /><Relationship Type="http://schemas.openxmlformats.org/officeDocument/2006/relationships/notesSlide" Target="/ppt/notesSlides/notesSlide6.xml" Id="R9f20d61490634cd5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BLEU（越高越好）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75" b="1">
              <a:solidFill>
                <a:srgbClr val="214969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BLEU（越高越好）</c:v>
          </c:tx>
          <c:spPr>
            <a:solidFill xmlns:a="http://schemas.openxmlformats.org/drawingml/2006/main">
              <a:srgbClr val="368B85"/>
            </a:solidFill>
          </c:spPr>
          <c:cat>
            <c:strRef>
              <c:f>'Chart Data'!$A$2:$A$4</c:f>
              <c:strCache>
                <c:ptCount val="3"/>
                <c:pt idx="0">
                  <c:v>ConvS2S</c:v>
                </c:pt>
                <c:pt idx="1">
                  <c:v>Transformer base</c:v>
                </c:pt>
                <c:pt idx="2">
                  <c:v>Transformer big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25.16</c:v>
                </c:pt>
                <c:pt idx="1">
                  <c:v>27.3</c:v>
                </c:pt>
                <c:pt idx="2">
                  <c:v>28.4</c:v>
                </c:pt>
              </c:numCache>
            </c:numRef>
          </c:val>
        </c:ser>
        <c:dLbls>
          <c:numFmt formatCode="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21496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D8E0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C8D8E0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5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E98CFB-B17B-45D3-9AB4-1FD2095F9413}"/>
              </a:ext>
            </a:extLst>
          </p:cNvPr>
          <p:cNvCxnSpPr>
            <a:stCxn xmlns:a="http://schemas.openxmlformats.org/drawingml/2006/main" id="15" idx="0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305050" y="6124575"/>
            <a:ext cx="10401300" cy="228600"/>
          </a:xfrm>
          <a:prstGeom xmlns:a="http://schemas.openxmlformats.org/drawingml/2006/main" prst="bentConnector4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32649-FFC5-428A-B8AB-18EF570849FA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10725150" y="40386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2AA0C-711E-4F25-9D0E-B86F1C2ED6E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7258050" y="40386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FC10F-3041-4B48-B9C1-C19F73EA3037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790950" y="4038600"/>
            <a:ext cx="495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sp>
        <p:nvSpPr>
          <p:cNvPr id="20" name="Transformer 的研究问题">
            <a:extLst xmlns:a="http://schemas.openxmlformats.org/drawingml/2006/main">
              <a:ext uri="{FF2B5EF4-FFF2-40B4-BE49-F238E27FC236}">
                <a16:creationId xmlns:a16="http://schemas.microsoft.com/office/drawing/2014/main" id="{99900574-3354-4312-AEB3-89B608B52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Transformer 的研究问题</a:t>
            </a:r>
          </a:p>
        </p:txBody>
      </p:sp>
      <p:sp>
        <p:nvSpPr>
          <p:cNvPr id="2" name="公开论文阅读示范 · Vaswani 等，2017">
            <a:extLst xmlns:a="http://schemas.openxmlformats.org/drawingml/2006/main">
              <a:ext uri="{FF2B5EF4-FFF2-40B4-BE49-F238E27FC236}">
                <a16:creationId xmlns:a16="http://schemas.microsoft.com/office/drawing/2014/main" id="{63C4CE48-07EA-419E-B293-147592DC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公开论文阅读示范 · Vaswani 等，2017</a:t>
            </a:r>
          </a:p>
        </p:txBody>
      </p:sp>
      <p:sp>
        <p:nvSpPr>
          <p:cNvPr id="3" name="来源：作者博客（2017） · 阅读示范，未复现实验">
            <a:extLst xmlns:a="http://schemas.openxmlformats.org/drawingml/2006/main">
              <a:ext uri="{FF2B5EF4-FFF2-40B4-BE49-F238E27FC236}">
                <a16:creationId xmlns:a16="http://schemas.microsoft.com/office/drawing/2014/main" id="{C1DEC9AF-4A5B-4A1D-8BDE-DB18B48D8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来源：作者博客（2017） · 阅读示范，未复现实验</a:t>
            </a:r>
          </a:p>
        </p:txBody>
      </p:sp>
      <p:sp>
        <p:nvSpPr>
          <p:cNvPr id="4" name="01">
            <a:extLst xmlns:a="http://schemas.openxmlformats.org/drawingml/2006/main">
              <a:ext uri="{FF2B5EF4-FFF2-40B4-BE49-F238E27FC236}">
                <a16:creationId xmlns:a16="http://schemas.microsoft.com/office/drawing/2014/main" id="{80356DE6-94F9-4EB8-93EA-5BDFEFF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如何组织远距离词语之间的信息？">
            <a:extLst xmlns:a="http://schemas.openxmlformats.org/drawingml/2006/main">
              <a:ext uri="{FF2B5EF4-FFF2-40B4-BE49-F238E27FC236}">
                <a16:creationId xmlns:a16="http://schemas.microsoft.com/office/drawing/2014/main" id="{E4B5E804-393B-4D7B-9854-ABCD6BA0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38350"/>
            <a:ext cx="12620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3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3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如何组织远距离词语之间的信息？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F06CDC-B140-48F6-8066-E7943FD3B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052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输入词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30755-50DA-4B1C-81A0-5CF9892C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5052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输入词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16BD2-C025-4C7C-8ECD-BCDB1171D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052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输入词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5E8288-80B1-468B-A159-6AA804377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3505200"/>
            <a:ext cx="2971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输入词 n</a:t>
            </a:r>
          </a:p>
        </p:txBody>
      </p:sp>
      <p:sp>
        <p:nvSpPr>
          <p:cNvPr id="13" name="循环网络的顺序处理">
            <a:extLst xmlns:a="http://schemas.openxmlformats.org/drawingml/2006/main">
              <a:ext uri="{FF2B5EF4-FFF2-40B4-BE49-F238E27FC236}">
                <a16:creationId xmlns:a16="http://schemas.microsoft.com/office/drawing/2014/main" id="{1AD78012-89BF-4221-9488-036F93576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857500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循环网络的顺序处理</a:t>
            </a:r>
          </a:p>
        </p:txBody>
      </p:sp>
      <p:sp>
        <p:nvSpPr>
          <p:cNvPr id="14" name="自注意力的直接联系">
            <a:extLst xmlns:a="http://schemas.openxmlformats.org/drawingml/2006/main">
              <a:ext uri="{FF2B5EF4-FFF2-40B4-BE49-F238E27FC236}">
                <a16:creationId xmlns:a16="http://schemas.microsoft.com/office/drawing/2014/main" id="{54A21152-75FA-4CCD-AEE8-4C66C6F2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57825"/>
            <a:ext cx="5905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自注意力的直接联系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24F7B8-7E08-4016-8C45-BC7B59F46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353175"/>
            <a:ext cx="29718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位置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1F3B1-92D3-4018-BC4E-3CAA5FA7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53175"/>
            <a:ext cx="29718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位置 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46E470-6676-46DC-B068-B14A9CC0E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6353175"/>
            <a:ext cx="29718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位置 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A57E16-AD29-42D1-8C6F-0633D35D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53175"/>
            <a:ext cx="29718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位置 n</a:t>
            </a:r>
          </a:p>
        </p:txBody>
      </p:sp>
    </p:spTree>
    <p:extLst>
      <p:ext uri="{BB962C8B-B14F-4D97-AF65-F5344CB8AC3E}">
        <p14:creationId xmlns:p14="http://schemas.microsoft.com/office/powerpoint/2010/main" val="11844407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357B93-DF2E-4ECA-87D1-99B3E0637D6F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5810250" y="5395913"/>
            <a:ext cx="3619500" cy="11715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7038E3-B6E7-4B6A-864C-F7047FDB6A1E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11958638" y="57912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724CEF-F07E-4003-B7E2-78F0024782D4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3281363" y="57912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19B00D-21A6-46A3-B482-25B0390A464E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1958638" y="46196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3FB791-8544-4D9B-95EF-8902BD0CDE0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3281363" y="4619625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EA524D-D23F-4D9E-927A-1F9728FDE89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11958638" y="34480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039E1F-EF79-4E46-9689-53F1C4D495C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3281363" y="344805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sp>
        <p:nvSpPr>
          <p:cNvPr id="25" name="编码器与解码器结构">
            <a:extLst xmlns:a="http://schemas.openxmlformats.org/drawingml/2006/main">
              <a:ext uri="{FF2B5EF4-FFF2-40B4-BE49-F238E27FC236}">
                <a16:creationId xmlns:a16="http://schemas.microsoft.com/office/drawing/2014/main" id="{E565B676-38E1-444F-9216-4CFBC8D5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编码器与解码器结构</a:t>
            </a:r>
          </a:p>
        </p:txBody>
      </p:sp>
      <p:sp>
        <p:nvSpPr>
          <p:cNvPr id="2" name="保留信息方向，省略图中重复的细节">
            <a:extLst xmlns:a="http://schemas.openxmlformats.org/drawingml/2006/main">
              <a:ext uri="{FF2B5EF4-FFF2-40B4-BE49-F238E27FC236}">
                <a16:creationId xmlns:a16="http://schemas.microsoft.com/office/drawing/2014/main" id="{75BBEA35-DA32-4F8D-8A6E-D61F951D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保留信息方向，省略图中重复的细节</a:t>
            </a:r>
          </a:p>
        </p:txBody>
      </p:sp>
      <p:sp>
        <p:nvSpPr>
          <p:cNvPr id="3" name="来源：论文 §3、图1 · 原创结构示意，未复现实验">
            <a:extLst xmlns:a="http://schemas.openxmlformats.org/drawingml/2006/main">
              <a:ext uri="{FF2B5EF4-FFF2-40B4-BE49-F238E27FC236}">
                <a16:creationId xmlns:a16="http://schemas.microsoft.com/office/drawing/2014/main" id="{816170C1-A7A4-4604-B78F-1DD9CA984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来源：论文 §3、图1 · 原创结构示意，未复现实验</a:t>
            </a:r>
          </a:p>
        </p:txBody>
      </p:sp>
      <p:sp>
        <p:nvSpPr>
          <p:cNvPr id="4" name="02">
            <a:extLst xmlns:a="http://schemas.openxmlformats.org/drawingml/2006/main">
              <a:ext uri="{FF2B5EF4-FFF2-40B4-BE49-F238E27FC236}">
                <a16:creationId xmlns:a16="http://schemas.microsoft.com/office/drawing/2014/main" id="{1C1A9076-C327-4779-BE9A-827A61CA2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编码器">
            <a:extLst xmlns:a="http://schemas.openxmlformats.org/drawingml/2006/main">
              <a:ext uri="{FF2B5EF4-FFF2-40B4-BE49-F238E27FC236}">
                <a16:creationId xmlns:a16="http://schemas.microsoft.com/office/drawing/2014/main" id="{91BB1387-A81F-45E7-9911-A16573E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编码器</a:t>
            </a:r>
          </a:p>
        </p:txBody>
      </p:sp>
      <p:sp>
        <p:nvSpPr>
          <p:cNvPr id="6" name="解码器">
            <a:extLst xmlns:a="http://schemas.openxmlformats.org/drawingml/2006/main">
              <a:ext uri="{FF2B5EF4-FFF2-40B4-BE49-F238E27FC236}">
                <a16:creationId xmlns:a16="http://schemas.microsoft.com/office/drawing/2014/main" id="{227571D4-9CEE-4A7A-9763-1511C4ADE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809750"/>
            <a:ext cx="5476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55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解码器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E4A38-E085-4BB6-A5DD-0C9E4A9B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657475"/>
            <a:ext cx="5057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输入表示 + 位置信息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BB73C-6F1F-476D-855B-E4325D7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829050"/>
            <a:ext cx="5057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自注意力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7D37E1-D359-4AEC-9D6B-30B98B88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000625"/>
            <a:ext cx="5057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前馈网络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7896BA-A39C-4B7D-8F9A-65EC25A6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6172200"/>
            <a:ext cx="5057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编码器表示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4E418F-2946-434D-B0F3-AC994461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657475"/>
            <a:ext cx="5057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已知输出 + 位置信息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26F7D-5ACB-4DCB-B4CB-F06000873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829050"/>
            <a:ext cx="5057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遮蔽自注意力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937A0F-CD88-41FE-858C-A186882D7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00625"/>
            <a:ext cx="5057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交叉注意力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D14FE4-C985-47A3-8CC8-B657F673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72200"/>
            <a:ext cx="5057775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前馈网络 → 下一词</a:t>
            </a:r>
          </a:p>
        </p:txBody>
      </p:sp>
      <p:sp>
        <p:nvSpPr>
          <p:cNvPr id="22" name="K、V">
            <a:extLst xmlns:a="http://schemas.openxmlformats.org/drawingml/2006/main">
              <a:ext uri="{FF2B5EF4-FFF2-40B4-BE49-F238E27FC236}">
                <a16:creationId xmlns:a16="http://schemas.microsoft.com/office/drawing/2014/main" id="{FAABDE43-F671-4DF0-8498-D4DA3AB5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657975"/>
            <a:ext cx="15811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K、V</a:t>
            </a:r>
          </a:p>
        </p:txBody>
      </p:sp>
      <p:sp>
        <p:nvSpPr>
          <p:cNvPr id="23" name="Q 来自解码器">
            <a:extLst xmlns:a="http://schemas.openxmlformats.org/drawingml/2006/main">
              <a:ext uri="{FF2B5EF4-FFF2-40B4-BE49-F238E27FC236}">
                <a16:creationId xmlns:a16="http://schemas.microsoft.com/office/drawing/2014/main" id="{2AF40CC0-AB56-4C89-985E-9C635162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0535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1875" b="1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Q 来自解码器</a:t>
            </a:r>
          </a:p>
        </p:txBody>
      </p:sp>
      <p:sp>
        <p:nvSpPr>
          <p:cNvPr id="24" name="注意：重复层中的残差连接与归一化未逐一展开。">
            <a:extLst xmlns:a="http://schemas.openxmlformats.org/drawingml/2006/main">
              <a:ext uri="{FF2B5EF4-FFF2-40B4-BE49-F238E27FC236}">
                <a16:creationId xmlns:a16="http://schemas.microsoft.com/office/drawing/2014/main" id="{3C89836A-3AA4-4D83-9A6F-73DE7621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7410450"/>
            <a:ext cx="137160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注意：重复层中的残差连接与归一化未逐一展开。</a:t>
            </a:r>
          </a:p>
        </p:txBody>
      </p:sp>
    </p:spTree>
    <p:extLst>
      <p:ext uri="{BB962C8B-B14F-4D97-AF65-F5344CB8AC3E}">
        <p14:creationId xmlns:p14="http://schemas.microsoft.com/office/powerpoint/2010/main" val="13067952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CF83D-38EA-4305-B9F7-5DBBCF5613BD}"/>
              </a:ext>
            </a:extLst>
          </p:cNvPr>
          <p:cNvCxnSpPr>
            <a:stCxn xmlns:a="http://schemas.openxmlformats.org/drawingml/2006/main" id="9" idx="4"/>
            <a:endCxn xmlns:a="http://schemas.openxmlformats.org/drawingml/2006/main" id="10" idx="0"/>
          </p:cNvCxnSpPr>
          <p:nvPr/>
        </p:nvCxnSpPr>
        <p:spPr>
          <a:xfrm xmlns:a="http://schemas.openxmlformats.org/drawingml/2006/main">
            <a:off x="13258800" y="3581400"/>
            <a:ext cx="0" cy="2047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FFD8B-73C3-4BE7-8C3A-AE699EB5EB6D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058525" y="4733925"/>
            <a:ext cx="876300" cy="1633538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CCFB14-7A9A-4B21-AF06-E8AD55028CE1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696075" y="4733925"/>
            <a:ext cx="11144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C5C7B-D235-4A67-BF6B-290A60B02F20}"/>
              </a:ext>
            </a:extLst>
          </p:cNvPr>
          <p:cNvCxnSpPr>
            <a:stCxn xmlns:a="http://schemas.openxmlformats.org/drawingml/2006/main" id="6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2752725" y="4733925"/>
            <a:ext cx="1333500" cy="15906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14969"/>
            </a:solidFill>
            <a:prstDash val="solid"/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F33632-D505-4138-BC0F-094BDCC52306}"/>
              </a:ext>
            </a:extLst>
          </p:cNvPr>
          <p:cNvCxnSpPr>
            <a:stCxn xmlns:a="http://schemas.openxmlformats.org/drawingml/2006/main" id="5" idx="6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752725" y="3162300"/>
            <a:ext cx="1333500" cy="157162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sp>
        <p:nvSpPr>
          <p:cNvPr id="18" name="缩放点积注意力">
            <a:extLst xmlns:a="http://schemas.openxmlformats.org/drawingml/2006/main">
              <a:ext uri="{FF2B5EF4-FFF2-40B4-BE49-F238E27FC236}">
                <a16:creationId xmlns:a16="http://schemas.microsoft.com/office/drawing/2014/main" id="{59FC1AD2-BBEF-4F2D-BE00-417DACE7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缩放点积注意力</a:t>
            </a:r>
          </a:p>
        </p:txBody>
      </p:sp>
      <p:sp>
        <p:nvSpPr>
          <p:cNvPr id="2" name="Q 与 K 决定权重，V 提供加权的内容">
            <a:extLst xmlns:a="http://schemas.openxmlformats.org/drawingml/2006/main">
              <a:ext uri="{FF2B5EF4-FFF2-40B4-BE49-F238E27FC236}">
                <a16:creationId xmlns:a16="http://schemas.microsoft.com/office/drawing/2014/main" id="{11F6E70F-EBE2-4CE3-AFEA-50EC429C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Q 与 K 决定权重，V 提供加权的内容</a:t>
            </a:r>
          </a:p>
        </p:txBody>
      </p:sp>
      <p:sp>
        <p:nvSpPr>
          <p:cNvPr id="3" name="来源：论文 §3.2、式(1) · 原创计算示意">
            <a:extLst xmlns:a="http://schemas.openxmlformats.org/drawingml/2006/main">
              <a:ext uri="{FF2B5EF4-FFF2-40B4-BE49-F238E27FC236}">
                <a16:creationId xmlns:a16="http://schemas.microsoft.com/office/drawing/2014/main" id="{AD6775E4-A4B7-42C1-88F5-18A13BE2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来源：论文 §3.2、式(1) · 原创计算示意</a:t>
            </a:r>
          </a:p>
        </p:txBody>
      </p:sp>
      <p:sp>
        <p:nvSpPr>
          <p:cNvPr id="4" name="03">
            <a:extLst xmlns:a="http://schemas.openxmlformats.org/drawingml/2006/main">
              <a:ext uri="{FF2B5EF4-FFF2-40B4-BE49-F238E27FC236}">
                <a16:creationId xmlns:a16="http://schemas.microsoft.com/office/drawing/2014/main" id="{62C91EDE-3F00-44CA-8728-F5250785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130D83-BA4E-4082-98D4-16EB7E95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381250"/>
            <a:ext cx="211455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Q</a:t>
            </a:r>
          </a:p>
          <a:p xmlns:a="http://schemas.openxmlformats.org/drawingml/2006/main">
            <a:pPr algn="ctr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查询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CB3AC6-CF60-47C8-B521-69BE7CD97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543550"/>
            <a:ext cx="2114550" cy="1562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K</a:t>
            </a:r>
          </a:p>
          <a:p xmlns:a="http://schemas.openxmlformats.org/drawingml/2006/main">
            <a:pPr algn="ctr">
              <a:defRPr sz="27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9F8DB2-BAAA-45E7-A241-2FCA9947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943350"/>
            <a:ext cx="26098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400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QKᵀ</a:t>
            </a:r>
          </a:p>
          <a:p xmlns:a="http://schemas.openxmlformats.org/drawingml/2006/main">
            <a:pPr algn="ctr">
              <a:defRPr sz="2400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相似度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11C81F-9420-46D1-8728-71C3C458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943350"/>
            <a:ext cx="324802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缩放 + softmax</a:t>
            </a:r>
          </a:p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注意力权重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CBC09F-71CF-42A0-B19F-F218E534F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2105025"/>
            <a:ext cx="2647950" cy="14763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V</a:t>
            </a:r>
          </a:p>
          <a:p xmlns:a="http://schemas.openxmlformats.org/drawingml/2006/main">
            <a:pPr algn="ctr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7886F6-724A-4BBA-973B-30D1159D9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34825" y="5629275"/>
            <a:ext cx="264795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96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加权输出</a:t>
            </a:r>
          </a:p>
        </p:txBody>
      </p:sp>
      <p:sp>
        <p:nvSpPr>
          <p:cNvPr id="16" name="Attention(Q, K, V) = softmax(QKᵀ / √dₖ) V">
            <a:extLst xmlns:a="http://schemas.openxmlformats.org/drawingml/2006/main">
              <a:ext uri="{FF2B5EF4-FFF2-40B4-BE49-F238E27FC236}">
                <a16:creationId xmlns:a16="http://schemas.microsoft.com/office/drawing/2014/main" id="{79753171-ADFA-4CE0-ACC0-E2B36848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781175"/>
            <a:ext cx="87153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85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Attention(Q, K, V) = softmax(QKᵀ / √dₖ) V</a:t>
            </a:r>
          </a:p>
        </p:txBody>
      </p:sp>
      <p:sp>
        <p:nvSpPr>
          <p:cNvPr id="17" name="缩放项：√dₖ">
            <a:extLst xmlns:a="http://schemas.openxmlformats.org/drawingml/2006/main">
              <a:ext uri="{FF2B5EF4-FFF2-40B4-BE49-F238E27FC236}">
                <a16:creationId xmlns:a16="http://schemas.microsoft.com/office/drawing/2014/main" id="{D228B7CA-1E07-4FE6-9A2C-51B047A8A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6143625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25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缩放项：√dₖ</a:t>
            </a:r>
          </a:p>
        </p:txBody>
      </p:sp>
    </p:spTree>
    <p:extLst>
      <p:ext uri="{BB962C8B-B14F-4D97-AF65-F5344CB8AC3E}">
        <p14:creationId xmlns:p14="http://schemas.microsoft.com/office/powerpoint/2010/main" val="41505130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425E4B-55BE-4412-8148-F0FBBF35BC44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696450" y="7115175"/>
            <a:ext cx="7905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7454A0"/>
            </a:solidFill>
            <a:prstDash val="solid"/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54FB82-387C-47AC-9102-43EC48E337F4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752975" y="7115175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68B85"/>
            </a:solidFill>
            <a:prstDash val="solid"/>
            <a:tailEnd type="triangle" w="med" len="med"/>
          </a:ln>
        </p:spPr>
      </p:cxnSp>
      <p:sp>
        <p:nvSpPr>
          <p:cNvPr id="11" name="原文实验与阅读核对">
            <a:extLst xmlns:a="http://schemas.openxmlformats.org/drawingml/2006/main">
              <a:ext uri="{FF2B5EF4-FFF2-40B4-BE49-F238E27FC236}">
                <a16:creationId xmlns:a16="http://schemas.microsoft.com/office/drawing/2014/main" id="{0ECE5E2F-9303-4D4B-AADC-F63418B9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原文实验与阅读核对</a:t>
            </a:r>
          </a:p>
        </p:txBody>
      </p:sp>
      <p:sp>
        <p:nvSpPr>
          <p:cNvPr id="2" name="比较模型、评价指标和证据位置">
            <a:extLst xmlns:a="http://schemas.openxmlformats.org/drawingml/2006/main">
              <a:ext uri="{FF2B5EF4-FFF2-40B4-BE49-F238E27FC236}">
                <a16:creationId xmlns:a16="http://schemas.microsoft.com/office/drawing/2014/main" id="{C918AF64-6EC8-4DA8-ADAB-96CFF929E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比较模型、评价指标和证据位置</a:t>
            </a:r>
          </a:p>
        </p:txBody>
      </p:sp>
      <p:sp>
        <p:nvSpPr>
          <p:cNvPr id="3" name="来源：论文 §5–6、表2 · 原文结果阅读，未做训练">
            <a:extLst xmlns:a="http://schemas.openxmlformats.org/drawingml/2006/main">
              <a:ext uri="{FF2B5EF4-FFF2-40B4-BE49-F238E27FC236}">
                <a16:creationId xmlns:a16="http://schemas.microsoft.com/office/drawing/2014/main" id="{C083C1BA-EFED-46EC-8BE1-DD736A8E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来源：论文 §5–6、表2 · 原文结果阅读，未做训练</a:t>
            </a:r>
          </a:p>
        </p:txBody>
      </p:sp>
      <p:sp>
        <p:nvSpPr>
          <p:cNvPr id="4" name="04">
            <a:extLst xmlns:a="http://schemas.openxmlformats.org/drawingml/2006/main">
              <a:ext uri="{FF2B5EF4-FFF2-40B4-BE49-F238E27FC236}">
                <a16:creationId xmlns:a16="http://schemas.microsoft.com/office/drawing/2014/main" id="{3777C83E-7B37-43D2-868D-841CA726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E58C5-E86A-4730-B470-1071B1625989}"/>
              </a:ext>
            </a:extLst>
          </p:cNvPr>
          <p:cNvGraphicFramePr/>
          <p:nvPr/>
        </p:nvGraphicFramePr>
        <p:xfrm>
          <a:off xmlns:a="http://schemas.openxmlformats.org/drawingml/2006/main" x="609600" y="2314575"/>
          <a:ext xmlns:a="http://schemas.openxmlformats.org/drawingml/2006/main" cx="14011275" cy="3686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5743575"/>
                <a:gridCol w="5124450"/>
              </a:tblGrid>
              <a:tr h="73723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阅读对象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原文内容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核对重点</a:t>
                      </a:r>
                    </a:p>
                  </a:txBody>
                  <a:tcPr marL="91440" marR="91440" marT="45720" marB="45720" anchor="ctr">
                    <a:solidFill>
                      <a:srgbClr val="214969"/>
                    </a:solidFill>
                  </a:tcPr>
                </a:tc>
              </a:tr>
              <a:tr h="73723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比较模型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Transformer base / big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配置与评价口径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723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翻译任务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WMT 2014 英德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测试集与语言方向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</a:tr>
              <a:tr h="73723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主要指标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BLEU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指标方向与条件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7235"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1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证据位置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表2；训练细节见 §5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pPr algn="l"/>
                      <a:r>
                        <a:rPr sz="1875" b="0">
                          <a:solidFill>
                            <a:srgbClr val="243D5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结果与训练记录分开</a:t>
                      </a:r>
                    </a:p>
                  </a:txBody>
                  <a:tcPr marL="91440" marR="91440" marT="45720" marB="45720" anchor="ctr">
                    <a:solidFill>
                      <a:srgbClr val="F0F5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DA5249-D3CC-4AB6-8B4B-F967F114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705600"/>
            <a:ext cx="4133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7F6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问题：模型效果如何？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CEE0E-224F-4309-A289-F2DF68F4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705600"/>
            <a:ext cx="4133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5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阅读同一任务的结果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4C78C1-92EA-41A3-9963-2E4690EE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705600"/>
            <a:ext cx="41338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结论限定在原文条件</a:t>
            </a:r>
          </a:p>
        </p:txBody>
      </p:sp>
    </p:spTree>
    <p:extLst>
      <p:ext uri="{BB962C8B-B14F-4D97-AF65-F5344CB8AC3E}">
        <p14:creationId xmlns:p14="http://schemas.microsoft.com/office/powerpoint/2010/main" val="13431564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WMT 2014 英德翻译结果">
            <a:extLst xmlns:a="http://schemas.openxmlformats.org/drawingml/2006/main">
              <a:ext uri="{FF2B5EF4-FFF2-40B4-BE49-F238E27FC236}">
                <a16:creationId xmlns:a16="http://schemas.microsoft.com/office/drawing/2014/main" id="{0C7CBF79-6CA0-49E2-ADD8-CE2E96ECB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WMT 2014 英德翻译结果</a:t>
            </a:r>
          </a:p>
        </p:txBody>
      </p:sp>
      <p:sp>
        <p:nvSpPr>
          <p:cNvPr id="2" name="选择表2中的三个模型，保留数值和比较范围">
            <a:extLst xmlns:a="http://schemas.openxmlformats.org/drawingml/2006/main">
              <a:ext uri="{FF2B5EF4-FFF2-40B4-BE49-F238E27FC236}">
                <a16:creationId xmlns:a16="http://schemas.microsoft.com/office/drawing/2014/main" id="{177C6BEB-10CE-454C-9112-E0117C85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选择表2中的三个模型，保留数值和比较范围</a:t>
            </a:r>
          </a:p>
        </p:txBody>
      </p:sp>
      <p:sp>
        <p:nvSpPr>
          <p:cNvPr id="3" name="来源：论文表2 · 原文报告值，未复现实验">
            <a:extLst xmlns:a="http://schemas.openxmlformats.org/drawingml/2006/main">
              <a:ext uri="{FF2B5EF4-FFF2-40B4-BE49-F238E27FC236}">
                <a16:creationId xmlns:a16="http://schemas.microsoft.com/office/drawing/2014/main" id="{490AE0DF-28B7-4041-8D47-51DF4F981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来源：论文表2 · 原文报告值，未复现实验</a:t>
            </a:r>
          </a:p>
        </p:txBody>
      </p:sp>
      <p:sp>
        <p:nvSpPr>
          <p:cNvPr id="4" name="05">
            <a:extLst xmlns:a="http://schemas.openxmlformats.org/drawingml/2006/main">
              <a:ext uri="{FF2B5EF4-FFF2-40B4-BE49-F238E27FC236}">
                <a16:creationId xmlns:a16="http://schemas.microsoft.com/office/drawing/2014/main" id="{4B5FF07F-A4CE-4DD2-B5D5-0419768D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50E9619-7F00-4DD3-B290-6D3162547E44}"/>
              </a:ext>
            </a:extLst>
          </p:cNvPr>
          <p:cNvGraphicFramePr/>
          <p:nvPr/>
        </p:nvGraphicFramePr>
        <p:xfrm>
          <a:off xmlns:a="http://schemas.openxmlformats.org/drawingml/2006/main" x="619125" y="2085975"/>
          <a:ext xmlns:a="http://schemas.openxmlformats.org/drawingml/2006/main" cx="9029700" cy="5048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c6cfe72dca74fe1"/>
          </a:graphicData>
        </a:graphic>
      </p:graphicFrame>
      <p:sp>
        <p:nvSpPr>
          <p:cNvPr id="6" name="原文报告值">
            <a:extLst xmlns:a="http://schemas.openxmlformats.org/drawingml/2006/main">
              <a:ext uri="{FF2B5EF4-FFF2-40B4-BE49-F238E27FC236}">
                <a16:creationId xmlns:a16="http://schemas.microsoft.com/office/drawing/2014/main" id="{745E4182-3FA3-410E-82A7-1D06206B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71700"/>
            <a:ext cx="43148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6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625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原文报告值</a:t>
            </a:r>
          </a:p>
        </p:txBody>
      </p:sp>
      <p:sp>
        <p:nvSpPr>
          <p:cNvPr id="7" name="25.16 / 27.30 / 28.40">
            <a:extLst xmlns:a="http://schemas.openxmlformats.org/drawingml/2006/main">
              <a:ext uri="{FF2B5EF4-FFF2-40B4-BE49-F238E27FC236}">
                <a16:creationId xmlns:a16="http://schemas.microsoft.com/office/drawing/2014/main" id="{09B01822-3FED-479E-A037-DDC4DA1E7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057525"/>
            <a:ext cx="43148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25.16 / 27.30 / 28.40</a:t>
            </a:r>
          </a:p>
        </p:txBody>
      </p:sp>
      <p:sp>
        <p:nvSpPr>
          <p:cNvPr id="8" name="本页的比较边界">
            <a:extLst xmlns:a="http://schemas.openxmlformats.org/drawingml/2006/main">
              <a:ext uri="{FF2B5EF4-FFF2-40B4-BE49-F238E27FC236}">
                <a16:creationId xmlns:a16="http://schemas.microsoft.com/office/drawing/2014/main" id="{E1760CF6-6595-4ECD-96C0-464A8FE7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4429125"/>
            <a:ext cx="43148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本页的比较边界</a:t>
            </a:r>
          </a:p>
        </p:txBody>
      </p:sp>
      <p:sp>
        <p:nvSpPr>
          <p:cNvPr id="9" name="英德方向&#10;表2测试结果&#10;三个选定模型">
            <a:extLst xmlns:a="http://schemas.openxmlformats.org/drawingml/2006/main">
              <a:ext uri="{FF2B5EF4-FFF2-40B4-BE49-F238E27FC236}">
                <a16:creationId xmlns:a16="http://schemas.microsoft.com/office/drawing/2014/main" id="{5717C393-AF10-4D80-9F66-6B9ECA166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5257800"/>
            <a:ext cx="43148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英德方向</a:t>
            </a:r>
          </a:p>
          <a:p xmlns:a="http://schemas.openxmlformats.org/drawingml/2006/main">
            <a: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表2测试结果</a:t>
            </a:r>
          </a:p>
          <a:p xmlns:a="http://schemas.openxmlformats.org/drawingml/2006/main">
            <a:pPr algn="l">
              <a:def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三个选定模型</a:t>
            </a:r>
          </a:p>
        </p:txBody>
      </p:sp>
      <p:sp>
        <p:nvSpPr>
          <p:cNvPr id="10" name="图表未提供置信区间；本示范未估计显著性。">
            <a:extLst xmlns:a="http://schemas.openxmlformats.org/drawingml/2006/main">
              <a:ext uri="{FF2B5EF4-FFF2-40B4-BE49-F238E27FC236}">
                <a16:creationId xmlns:a16="http://schemas.microsoft.com/office/drawing/2014/main" id="{8309B5F6-3F11-4FFE-92C9-D9CB783E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81875"/>
            <a:ext cx="136302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图表未提供置信区间；本示范未估计显著性。</a:t>
            </a:r>
          </a:p>
        </p:txBody>
      </p:sp>
    </p:spTree>
    <p:extLst>
      <p:ext uri="{BB962C8B-B14F-4D97-AF65-F5344CB8AC3E}">
        <p14:creationId xmlns:p14="http://schemas.microsoft.com/office/powerpoint/2010/main" val="10519272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结论范围与来源冲突">
            <a:extLst xmlns:a="http://schemas.openxmlformats.org/drawingml/2006/main">
              <a:ext uri="{FF2B5EF4-FFF2-40B4-BE49-F238E27FC236}">
                <a16:creationId xmlns:a16="http://schemas.microsoft.com/office/drawing/2014/main" id="{C9F15713-1DF4-4DDB-8A62-0596CAFAF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40208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214969"/>
                </a:solidFill>
                <a:latin typeface="Microsoft YaHei"/>
                <a:ea typeface="Microsoft YaHei"/>
                <a:cs typeface="Microsoft YaHei"/>
              </a:rPr>
              <a:t>结论范围与来源冲突</a:t>
            </a:r>
          </a:p>
        </p:txBody>
      </p:sp>
      <p:sp>
        <p:nvSpPr>
          <p:cNvPr id="2" name="已有证据、材料冲突和复现状态分别说明">
            <a:extLst xmlns:a="http://schemas.openxmlformats.org/drawingml/2006/main">
              <a:ext uri="{FF2B5EF4-FFF2-40B4-BE49-F238E27FC236}">
                <a16:creationId xmlns:a16="http://schemas.microsoft.com/office/drawing/2014/main" id="{DCB84EF3-14C2-4FBE-B390-21C9BE1BA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47750"/>
            <a:ext cx="1402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已有证据、材料冲突和复现状态分别说明</a:t>
            </a:r>
          </a:p>
        </p:txBody>
      </p:sp>
      <p:sp>
        <p:nvSpPr>
          <p:cNvPr id="3" name="公开论文阅读示范 · 不能替代复现实验">
            <a:extLst xmlns:a="http://schemas.openxmlformats.org/drawingml/2006/main">
              <a:ext uri="{FF2B5EF4-FFF2-40B4-BE49-F238E27FC236}">
                <a16:creationId xmlns:a16="http://schemas.microsoft.com/office/drawing/2014/main" id="{97D589CF-8D61-496C-B377-DE206A0E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0"/>
            <a:ext cx="1285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公开论文阅读示范 · 不能替代复现实验</a:t>
            </a:r>
          </a:p>
        </p:txBody>
      </p:sp>
      <p:sp>
        <p:nvSpPr>
          <p:cNvPr id="4" name="06">
            <a:extLst xmlns:a="http://schemas.openxmlformats.org/drawingml/2006/main">
              <a:ext uri="{FF2B5EF4-FFF2-40B4-BE49-F238E27FC236}">
                <a16:creationId xmlns:a16="http://schemas.microsoft.com/office/drawing/2014/main" id="{5F89C7BC-E8F1-4868-B12E-C2FCE212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7972425"/>
            <a:ext cx="8096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r">
              <a:def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67080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本示范呈现的证据">
            <a:extLst xmlns:a="http://schemas.openxmlformats.org/drawingml/2006/main">
              <a:ext uri="{FF2B5EF4-FFF2-40B4-BE49-F238E27FC236}">
                <a16:creationId xmlns:a16="http://schemas.microsoft.com/office/drawing/2014/main" id="{E3931607-8872-48CF-86DF-F7F4714E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6257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368B85"/>
                </a:solidFill>
                <a:latin typeface="Microsoft YaHei"/>
                <a:ea typeface="Microsoft YaHei"/>
                <a:cs typeface="Microsoft YaHei"/>
              </a:rPr>
              <a:t>本示范呈现的证据</a:t>
            </a:r>
          </a:p>
        </p:txBody>
      </p:sp>
      <p:sp>
        <p:nvSpPr>
          <p:cNvPr id="6" name="架构关系与注意力计算&#10;选定的英德测试报告值">
            <a:extLst xmlns:a="http://schemas.openxmlformats.org/drawingml/2006/main">
              <a:ext uri="{FF2B5EF4-FFF2-40B4-BE49-F238E27FC236}">
                <a16:creationId xmlns:a16="http://schemas.microsoft.com/office/drawing/2014/main" id="{D1694F8F-ED3D-4B36-BD0B-1DADA5C32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6210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架构关系与注意力计算</a:t>
            </a:r>
          </a:p>
          <a:p xmlns:a="http://schemas.openxmlformats.org/drawingml/2006/main">
            <a:pPr algn="l">
              <a:def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选定的英德测试报告值</a:t>
            </a:r>
          </a:p>
        </p:txBody>
      </p:sp>
      <p:sp>
        <p:nvSpPr>
          <p:cNvPr id="7" name="本示范的限制">
            <a:extLst xmlns:a="http://schemas.openxmlformats.org/drawingml/2006/main">
              <a:ext uri="{FF2B5EF4-FFF2-40B4-BE49-F238E27FC236}">
                <a16:creationId xmlns:a16="http://schemas.microsoft.com/office/drawing/2014/main" id="{0D594146-5BA8-49EE-9B52-ABCD7240F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62579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本示范的限制</a:t>
            </a:r>
          </a:p>
        </p:txBody>
      </p:sp>
      <p:sp>
        <p:nvSpPr>
          <p:cNvPr id="8" name="未训练模型或重新评价&#10;未补充原文没有的误差估计">
            <a:extLst xmlns:a="http://schemas.openxmlformats.org/drawingml/2006/main">
              <a:ext uri="{FF2B5EF4-FFF2-40B4-BE49-F238E27FC236}">
                <a16:creationId xmlns:a16="http://schemas.microsoft.com/office/drawing/2014/main" id="{D747718C-9D58-4197-ACA1-133F76DD4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4525"/>
            <a:ext cx="62103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未训练模型或重新评价</a:t>
            </a:r>
          </a:p>
          <a:p xmlns:a="http://schemas.openxmlformats.org/drawingml/2006/main">
            <a:pPr algn="l">
              <a:def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未补充原文没有的误差估计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C543B7-E862-4619-8C76-FAD617F67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95475"/>
            <a:ext cx="6734175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1F9"/>
          </a:solidFill>
          <a:ln xmlns:a="http://schemas.openxmlformats.org/drawingml/2006/main" w="14288">
            <a:solidFill>
              <a:srgbClr val="C8D8E0"/>
            </a:solidFill>
          </a:ln>
        </p:spPr>
      </p:sp>
      <p:sp>
        <p:nvSpPr>
          <p:cNvPr id="10" name="来源冲突须保留">
            <a:extLst xmlns:a="http://schemas.openxmlformats.org/drawingml/2006/main">
              <a:ext uri="{FF2B5EF4-FFF2-40B4-BE49-F238E27FC236}">
                <a16:creationId xmlns:a16="http://schemas.microsoft.com/office/drawing/2014/main" id="{BF221D29-DDCA-46EF-BE54-D990352A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57425"/>
            <a:ext cx="6000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7454A0"/>
                </a:solidFill>
                <a:latin typeface="Microsoft YaHei"/>
                <a:ea typeface="Microsoft YaHei"/>
                <a:cs typeface="Microsoft YaHei"/>
              </a:rPr>
              <a:t>来源冲突须保留</a:t>
            </a:r>
          </a:p>
        </p:txBody>
      </p:sp>
      <p:sp>
        <p:nvSpPr>
          <p:cNvPr id="11" name="英法 big：&#10;表2与摘要为 41.8&#10;正文 §6.1 为 41.0">
            <a:extLst xmlns:a="http://schemas.openxmlformats.org/drawingml/2006/main">
              <a:ext uri="{FF2B5EF4-FFF2-40B4-BE49-F238E27FC236}">
                <a16:creationId xmlns:a16="http://schemas.microsoft.com/office/drawing/2014/main" id="{FB5312B6-56A4-4EAF-82AB-DDA8822F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3219450"/>
            <a:ext cx="600075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英法 big：</a:t>
            </a:r>
          </a:p>
          <a:p xmlns:a="http://schemas.openxmlformats.org/drawingml/2006/main">
            <a:pPr algn="l">
              <a:defRPr sz="24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表2与摘要为 41.8</a:t>
            </a:r>
          </a:p>
          <a:p xmlns:a="http://schemas.openxmlformats.org/drawingml/2006/main">
            <a:pPr algn="l">
              <a:defRPr sz="24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正文 §6.1 为 41.0</a:t>
            </a:r>
          </a:p>
        </p:txBody>
      </p:sp>
      <p:sp>
        <p:nvSpPr>
          <p:cNvPr id="12" name="此处不自行判定哪一个正确；&#10;结果图采用无该冲突的英德方向。">
            <a:extLst xmlns:a="http://schemas.openxmlformats.org/drawingml/2006/main">
              <a:ext uri="{FF2B5EF4-FFF2-40B4-BE49-F238E27FC236}">
                <a16:creationId xmlns:a16="http://schemas.microsoft.com/office/drawing/2014/main" id="{3882FACA-822A-4025-8783-EAC610F6A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5505450"/>
            <a:ext cx="6000750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此处不自行判定哪一个正确；</a:t>
            </a:r>
          </a:p>
          <a:p xmlns:a="http://schemas.openxmlformats.org/drawingml/2006/main">
            <a:pPr algn="l">
              <a:def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43D50"/>
                </a:solidFill>
                <a:latin typeface="Microsoft YaHei"/>
                <a:ea typeface="Microsoft YaHei"/>
                <a:cs typeface="Microsoft YaHei"/>
              </a:rPr>
              <a:t>结果图采用无该冲突的英德方向。</a:t>
            </a:r>
          </a:p>
        </p:txBody>
      </p:sp>
    </p:spTree>
    <p:extLst>
      <p:ext uri="{BB962C8B-B14F-4D97-AF65-F5344CB8AC3E}">
        <p14:creationId xmlns:p14="http://schemas.microsoft.com/office/powerpoint/2010/main" val="23220167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2026-10-10T04:25:07.6530000Z</dcterms:created>
  <dcterms:modified xsi:type="dcterms:W3CDTF">2026-10-10T04:25:07.6530000Z</dcterms:modified>
</coreProperties>
</file>