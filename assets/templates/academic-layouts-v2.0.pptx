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84b8385c8e4e28" /><Relationship Type="http://schemas.openxmlformats.org/officeDocument/2006/relationships/extended-properties" Target="/docProps/app.xml" Id="Ra975ea7df677443a" /><Relationship Type="http://schemas.openxmlformats.org/officeDocument/2006/relationships/officeDocument" Target="/ppt/presentation.xml" Id="R0d7cd840f12746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519d047b4f49c3"/>
  </p:sldMasterIdLst>
  <p:notesMasterIdLst>
    <p:notesMasterId xmlns:r="http://schemas.openxmlformats.org/officeDocument/2006/relationships" r:id="Rddf0ae2bc5b545c9"/>
  </p:notesMasterIdLst>
  <p:sldIdLst>
    <p:sldId xmlns:r="http://schemas.openxmlformats.org/officeDocument/2006/relationships" id="256" r:id="R57cfcdbfa9e547cd"/>
    <p:sldId xmlns:r="http://schemas.openxmlformats.org/officeDocument/2006/relationships" id="257" r:id="R6a9bcf0ce8694582"/>
    <p:sldId xmlns:r="http://schemas.openxmlformats.org/officeDocument/2006/relationships" id="258" r:id="Rc6318b207657489c"/>
    <p:sldId xmlns:r="http://schemas.openxmlformats.org/officeDocument/2006/relationships" id="259" r:id="Rbd4651fca2114759"/>
    <p:sldId xmlns:r="http://schemas.openxmlformats.org/officeDocument/2006/relationships" id="260" r:id="R80d5b4f06f0a4030"/>
    <p:sldId xmlns:r="http://schemas.openxmlformats.org/officeDocument/2006/relationships" id="261" r:id="R7dc4da3614cc4704"/>
    <p:sldId xmlns:r="http://schemas.openxmlformats.org/officeDocument/2006/relationships" id="262" r:id="Rf1bccfdb17914841"/>
    <p:sldId xmlns:r="http://schemas.openxmlformats.org/officeDocument/2006/relationships" id="263" r:id="R227b464ca422472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716e98af874533" /><Relationship Type="http://schemas.openxmlformats.org/officeDocument/2006/relationships/slideMaster" Target="/ppt/slideMasters/slideMaster1.xml" Id="R5b519d047b4f49c3" /><Relationship Type="http://schemas.openxmlformats.org/officeDocument/2006/relationships/notesMaster" Target="/ppt/notesMasters/notesMaster1.xml" Id="Rddf0ae2bc5b545c9" /><Relationship Type="http://schemas.openxmlformats.org/officeDocument/2006/relationships/presProps" Target="/ppt/presProps.xml" Id="Rbf110522bb3c446b" /><Relationship Type="http://schemas.openxmlformats.org/officeDocument/2006/relationships/tableStyles" Target="/ppt/tableStyles.xml" Id="R10330f32e5e04036" /><Relationship Type="http://schemas.openxmlformats.org/officeDocument/2006/relationships/slide" Target="/ppt/slides/slide1.xml" Id="R57cfcdbfa9e547cd" /><Relationship Type="http://schemas.openxmlformats.org/officeDocument/2006/relationships/slide" Target="/ppt/slides/slide2.xml" Id="R6a9bcf0ce8694582" /><Relationship Type="http://schemas.openxmlformats.org/officeDocument/2006/relationships/slide" Target="/ppt/slides/slide3.xml" Id="Rc6318b207657489c" /><Relationship Type="http://schemas.openxmlformats.org/officeDocument/2006/relationships/slide" Target="/ppt/slides/slide4.xml" Id="Rbd4651fca2114759" /><Relationship Type="http://schemas.openxmlformats.org/officeDocument/2006/relationships/slide" Target="/ppt/slides/slide5.xml" Id="R80d5b4f06f0a4030" /><Relationship Type="http://schemas.openxmlformats.org/officeDocument/2006/relationships/slide" Target="/ppt/slides/slide6.xml" Id="R7dc4da3614cc4704" /><Relationship Type="http://schemas.openxmlformats.org/officeDocument/2006/relationships/slide" Target="/ppt/slides/slide7.xml" Id="Rf1bccfdb17914841" /><Relationship Type="http://schemas.openxmlformats.org/officeDocument/2006/relationships/slide" Target="/ppt/slides/slide8.xml" Id="R227b464ca42247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d42ad7fd7e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8ef6cb34e4144" /><Relationship Type="http://schemas.openxmlformats.org/officeDocument/2006/relationships/notesMaster" Target="/ppt/notesMasters/notesMaster1.xml" Id="R09c8fd5bbcb84d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96889717b848a1" /><Relationship Type="http://schemas.openxmlformats.org/officeDocument/2006/relationships/notesMaster" Target="/ppt/notesMasters/notesMaster1.xml" Id="Re1300cb97c3249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9fffa589974d2b" /><Relationship Type="http://schemas.openxmlformats.org/officeDocument/2006/relationships/notesMaster" Target="/ppt/notesMasters/notesMaster1.xml" Id="R83ce9a8fea59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f0aceba734454c" /><Relationship Type="http://schemas.openxmlformats.org/officeDocument/2006/relationships/notesMaster" Target="/ppt/notesMasters/notesMaster1.xml" Id="Rbe8876373e4847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73ac18dad84ddb" /><Relationship Type="http://schemas.openxmlformats.org/officeDocument/2006/relationships/notesMaster" Target="/ppt/notesMasters/notesMaster1.xml" Id="R32aeee765fa748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3207a22d974e0e" /><Relationship Type="http://schemas.openxmlformats.org/officeDocument/2006/relationships/notesMaster" Target="/ppt/notesMasters/notesMaster1.xml" Id="R9d67171b0a2940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efeef909924d10" /><Relationship Type="http://schemas.openxmlformats.org/officeDocument/2006/relationships/notesMaster" Target="/ppt/notesMasters/notesMaster1.xml" Id="R8345871adb7741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261fd6a5d14cab" /><Relationship Type="http://schemas.openxmlformats.org/officeDocument/2006/relationships/notesMaster" Target="/ppt/notesMasters/notesMaster1.xml" Id="R4a4089145487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适用于机制、研究问题与证据的综合介绍。先说明中心判断，再讲两侧依据，最后沿虚线解释支撑关系。虚线表示支撑而非已证实因果；替换为实际内容后重新核对关系。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适用于两个研究方向的协同关系。先界定共同目标，再对应左侧可调控因素与右侧评价要求。反馈必须有对象和依据，不能把希望达到的性能画成已完成结果。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适用于从材料到结论的多层路线。先逐层讲输入，再讲本层动作和输出。实际研究中层数可增减；跨层箭头按真实依赖关系调整，不照搬示例。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适用于解释实验设计。示例没有填入真实样本量、重复次数或数值，请按已确认方案填写。重点检查实验组、对照组和评价条件是否可比较。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适用于多来源验证或研究可信度说明。按每个问题比较三类证据；缺失项写明待补，不能自动替换成通过状态。可根据课题替换行列。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本页使用教学模拟数值，既非论文数据也非本项目实验结果。替换数据前核对指标、单位、样本和对照。图表为原生对象；不得把三根柱子的高度当作真实结论。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现场讲解版本突出材料、过程、结论的关系。讲解时补充：材料看来源和版本，过程看日志和参数，结论看证据和适用范围。关键信息已留在正文，细节可在备注解释。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独立阅读版本保留能理解过程的条件。三个部分分别说明材料、过程和结论，列出复核对象，再讲待补项。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4075501954e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8cf73e5554c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3b6b352bc4f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07dd6ca3c4f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95601444545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968d4a216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838ECA-CE54-4C54-8663-7F4DBF037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6A565A-646C-4075-B050-495E54159B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6E22D7-7588-4A33-9969-3761F3CFF4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0AEC75-ECF6-42F7-8EDB-59C7C7E67F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5711F5-032B-4F48-B45F-C51D40638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332F5B-3A45-4BF5-A340-8C9D50C57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40ED40-3521-4C63-8EDF-1B0698B4A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34CF0D-EF2A-4CA3-A752-A93C0E0618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32C344-5102-46C5-8C40-EC5355D52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655A6C-2872-42AD-8D80-F6ABA1E614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50df27b0734935" /><Relationship Type="http://schemas.openxmlformats.org/officeDocument/2006/relationships/slideLayout" Target="/ppt/slideLayouts/slideLayout1.xml" Id="R449649427ec044ea" /><Relationship Type="http://schemas.openxmlformats.org/officeDocument/2006/relationships/slideLayout" Target="/ppt/slideLayouts/slideLayout2.xml" Id="Re6d2e54f86714420" /><Relationship Type="http://schemas.openxmlformats.org/officeDocument/2006/relationships/slideLayout" Target="/ppt/slideLayouts/slideLayout3.xml" Id="Rb26c758469a84931" /><Relationship Type="http://schemas.openxmlformats.org/officeDocument/2006/relationships/slideLayout" Target="/ppt/slideLayouts/slideLayout4.xml" Id="R485c334146a44c5f" /><Relationship Type="http://schemas.openxmlformats.org/officeDocument/2006/relationships/slideLayout" Target="/ppt/slideLayouts/slideLayout5.xml" Id="Re87b029bae594df2" /><Relationship Type="http://schemas.openxmlformats.org/officeDocument/2006/relationships/slideLayout" Target="/ppt/slideLayouts/slideLayout6.xml" Id="R630938c55f42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9649427ec044ea"/>
    <p:sldLayoutId xmlns:r="http://schemas.openxmlformats.org/officeDocument/2006/relationships" id="2147483650" r:id="Re6d2e54f86714420"/>
    <p:sldLayoutId xmlns:r="http://schemas.openxmlformats.org/officeDocument/2006/relationships" id="2147483651" r:id="Rb26c758469a84931"/>
    <p:sldLayoutId xmlns:r="http://schemas.openxmlformats.org/officeDocument/2006/relationships" id="2147483652" r:id="R485c334146a44c5f"/>
    <p:sldLayoutId xmlns:r="http://schemas.openxmlformats.org/officeDocument/2006/relationships" id="2147483653" r:id="Re87b029bae594df2"/>
    <p:sldLayoutId xmlns:r="http://schemas.openxmlformats.org/officeDocument/2006/relationships" id="2147483654" r:id="R630938c55f42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7617494a145fa" /><Relationship Type="http://schemas.openxmlformats.org/officeDocument/2006/relationships/notesSlide" Target="/ppt/notesSlides/notesSlide1.xml" Id="Re410ea8fa27d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d7c4f25f24576" /><Relationship Type="http://schemas.openxmlformats.org/officeDocument/2006/relationships/notesSlide" Target="/ppt/notesSlides/notesSlide2.xml" Id="R7deb076ee7a648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0a496b50704888" /><Relationship Type="http://schemas.openxmlformats.org/officeDocument/2006/relationships/notesSlide" Target="/ppt/notesSlides/notesSlide3.xml" Id="Recb9d681d5184b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e3ba9169d44b0" /><Relationship Type="http://schemas.openxmlformats.org/officeDocument/2006/relationships/notesSlide" Target="/ppt/notesSlides/notesSlide4.xml" Id="R31864aa8a1294b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45bec6ef7405d" /><Relationship Type="http://schemas.openxmlformats.org/officeDocument/2006/relationships/notesSlide" Target="/ppt/notesSlides/notesSlide5.xml" Id="Rfc9c6effadef49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58733426b4479" /><Relationship Type="http://schemas.openxmlformats.org/officeDocument/2006/relationships/chart" Target="/ppt/slides/charts/chart1.xml" Id="R211494fc36344d1a" /><Relationship Type="http://schemas.openxmlformats.org/officeDocument/2006/relationships/notesSlide" Target="/ppt/notesSlides/notesSlide6.xml" Id="R7d5bf98f955d41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a437c371b48db" /><Relationship Type="http://schemas.openxmlformats.org/officeDocument/2006/relationships/notesSlide" Target="/ppt/notesSlides/notesSlide7.xml" Id="Rcfee829dd69a41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a7a28ddd54a8f" /><Relationship Type="http://schemas.openxmlformats.org/officeDocument/2006/relationships/notesSlide" Target="/ppt/notesSlides/notesSlide8.xml" Id="R005c72f6a5d1409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教学模拟指标（任意单位）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14969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教学模拟指标（任意单位）</c:v>
          </c:tx>
          <c:spPr>
            <a:solidFill xmlns:a="http://schemas.openxmlformats.org/drawingml/2006/main">
              <a:srgbClr val="368B85"/>
            </a:solidFill>
          </c:spPr>
          <c:cat>
            <c:strRef>
              <c:f>'Chart Data'!$A$2:$A$4</c:f>
              <c:strCache>
                <c:ptCount val="3"/>
                <c:pt idx="0">
                  <c:v>方法 A</c:v>
                </c:pt>
                <c:pt idx="1">
                  <c:v>方法 B</c:v>
                </c:pt>
                <c:pt idx="2">
                  <c:v>方法 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16</c:v>
                </c:pt>
                <c:pt idx="2">
                  <c:v>19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149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8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8E0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D46BF-237A-4FBB-A592-EC509DF5FFB2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 flipV="1">
            <a:off x="9010650" y="4410075"/>
            <a:ext cx="561975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dash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EB904-05F4-45B3-9E23-D4A89393411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705475" y="4410075"/>
            <a:ext cx="523875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dash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D628A-D300-454D-A7BD-33E471BFFE87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9010650" y="2943225"/>
            <a:ext cx="56197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dash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B85BA-6717-4587-BE89-243E3BF015E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5705475" y="2943225"/>
            <a:ext cx="52387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dash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BEB0E-D508-4EFB-A59F-2A76296B0C1F}"/>
              </a:ext>
            </a:extLst>
          </p:cNvPr>
          <p:cNvCxnSpPr>
            <a:stCxn xmlns:a="http://schemas.openxmlformats.org/drawingml/2006/main" id="5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620000" y="55626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7C07A-8705-4AE1-9A11-D8CF27787DC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7620000" y="29051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D140A-6CEA-4A91-9185-8640DA9969AE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9010650" y="4219575"/>
            <a:ext cx="21336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B1FE6-31D0-4E2C-8904-6CEF5848ED9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4095750" y="4219575"/>
            <a:ext cx="21336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sp>
        <p:nvSpPr>
          <p:cNvPr id="26" name="研究机制与证据支撑">
            <a:extLst xmlns:a="http://schemas.openxmlformats.org/drawingml/2006/main">
              <a:ext uri="{FF2B5EF4-FFF2-40B4-BE49-F238E27FC236}">
                <a16:creationId xmlns:a16="http://schemas.microsoft.com/office/drawing/2014/main" id="{9473A544-8C04-42AB-B167-06F33ACE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研究机制与证据支撑</a:t>
            </a:r>
          </a:p>
        </p:txBody>
      </p:sp>
      <p:sp>
        <p:nvSpPr>
          <p:cNvPr id="2" name="中心机制 · 双侧证据 · 四类研究动作">
            <a:extLst xmlns:a="http://schemas.openxmlformats.org/drawingml/2006/main">
              <a:ext uri="{FF2B5EF4-FFF2-40B4-BE49-F238E27FC236}">
                <a16:creationId xmlns:a16="http://schemas.microsoft.com/office/drawing/2014/main" id="{A2FC20AF-97CC-46E8-952A-0AB10317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中心机制 · 双侧证据 · 四类研究动作</a:t>
            </a:r>
          </a:p>
        </p:txBody>
      </p:sp>
      <p:sp>
        <p:nvSpPr>
          <p:cNvPr id="3" name="原创教学布局示例 · 非实验结果">
            <a:extLst xmlns:a="http://schemas.openxmlformats.org/drawingml/2006/main">
              <a:ext uri="{FF2B5EF4-FFF2-40B4-BE49-F238E27FC236}">
                <a16:creationId xmlns:a16="http://schemas.microsoft.com/office/drawing/2014/main" id="{59CB4E0C-03EA-4B15-A52A-BC89F53C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原创教学布局示例 · 非实验结果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633AE5B-3D81-4444-8DE2-83C6355B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C615-8122-44EB-8393-21AD61EC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278130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96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与适用边界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9E97B-833D-47C9-8205-A6D4720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467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输入与假设</a:t>
            </a:r>
          </a:p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材料、条件、变量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8E6A3-E9FB-4643-87D5-BD881A6D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71850"/>
            <a:ext cx="3467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证据与评价</a:t>
            </a:r>
          </a:p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对照、误差、来源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86259-7D25-44CB-8A49-B84716F2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2781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对象与判断标准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3FB5C-6591-4C0C-874E-528BE02E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057900"/>
            <a:ext cx="27813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核验与修订</a:t>
            </a:r>
          </a:p>
          <a:p xmlns:a="http://schemas.openxmlformats.org/drawingml/2006/main">
            <a:pPr algn="ctr">
              <a:defRPr sz="20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补证据、限定结论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99831-701B-4151-857D-47D1CA6D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457325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方法选择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9E574-19C5-4351-9225-B15A2C55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71750"/>
            <a:ext cx="1457325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模型执行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24C8F-45C2-42D4-8654-D74399E1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43550"/>
            <a:ext cx="1457325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来源核对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54E13-E93C-4B9D-92BA-A39B3808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43550"/>
            <a:ext cx="1457325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独立验证</a:t>
            </a:r>
          </a:p>
        </p:txBody>
      </p:sp>
      <p:sp>
        <p:nvSpPr>
          <p:cNvPr id="22" name="材料依据">
            <a:extLst xmlns:a="http://schemas.openxmlformats.org/drawingml/2006/main">
              <a:ext uri="{FF2B5EF4-FFF2-40B4-BE49-F238E27FC236}">
                <a16:creationId xmlns:a16="http://schemas.microsoft.com/office/drawing/2014/main" id="{F9C16C05-AF4B-47F7-81B0-3FD9E4BD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材料依据</a:t>
            </a:r>
          </a:p>
        </p:txBody>
      </p:sp>
      <p:sp>
        <p:nvSpPr>
          <p:cNvPr id="23" name="文献记录&#10;实验条件&#10;原始对象">
            <a:extLst xmlns:a="http://schemas.openxmlformats.org/drawingml/2006/main">
              <a:ext uri="{FF2B5EF4-FFF2-40B4-BE49-F238E27FC236}">
                <a16:creationId xmlns:a16="http://schemas.microsoft.com/office/drawing/2014/main" id="{6DF9FE41-BAE1-4771-A78B-1CC087E6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文献记录</a:t>
            </a:r>
          </a:p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实验条件</a:t>
            </a:r>
          </a:p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原始对象</a:t>
            </a:r>
          </a:p>
        </p:txBody>
      </p:sp>
      <p:sp>
        <p:nvSpPr>
          <p:cNvPr id="24" name="评价依据">
            <a:extLst xmlns:a="http://schemas.openxmlformats.org/drawingml/2006/main">
              <a:ext uri="{FF2B5EF4-FFF2-40B4-BE49-F238E27FC236}">
                <a16:creationId xmlns:a16="http://schemas.microsoft.com/office/drawing/2014/main" id="{0509DC63-BCAF-4D70-8714-8C22DDBF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209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评价依据</a:t>
            </a:r>
          </a:p>
        </p:txBody>
      </p:sp>
      <p:sp>
        <p:nvSpPr>
          <p:cNvPr id="25" name="可复核结果&#10;适用范围&#10;待验证问题">
            <a:extLst xmlns:a="http://schemas.openxmlformats.org/drawingml/2006/main">
              <a:ext uri="{FF2B5EF4-FFF2-40B4-BE49-F238E27FC236}">
                <a16:creationId xmlns:a16="http://schemas.microsoft.com/office/drawing/2014/main" id="{14761834-18C0-4008-BB0A-98DD22A9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50545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可复核结果</a:t>
            </a:r>
          </a:p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待验证问题</a:t>
            </a:r>
          </a:p>
        </p:txBody>
      </p:sp>
    </p:spTree>
    <p:extLst>
      <p:ext uri="{BB962C8B-B14F-4D97-AF65-F5344CB8AC3E}">
        <p14:creationId xmlns:p14="http://schemas.microsoft.com/office/powerpoint/2010/main" val="255085856"/>
      </p:ext>
    </p:extLst>
  </p:cSld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cxnSp>
        <ns0:nvCxnSpPr>
          <ns0:cNvPr id="21" name="">
            <ns1:extLst>
              <ns1:ext uri="{FF2B5EF4-FFF2-40B4-BE49-F238E27FC236}">
                <ns2:creationId id="{3CC3F895-1E13-402B-ACA5-EB7FE968F847}"/>
              </ns1:ext>
            </ns1:extLst>
          </ns0:cNvPr>
          <ns0:cNvCxnSpPr>
            <ns1:stCxn id="14" idx="2"/>
            <ns1:endCxn id="11" idx="2"/>
          </ns0:cNvCxnSpPr>
          <ns0:nvPr/>
        </ns0:nvCxnSpPr>
        <ns0:spPr>
          <ns1:xfrm flipH="1">
            <ns1:off x="2495550" y="5924550"/>
            <ns1:ext cx="10248900" cy="228600"/>
          </ns1:xfrm>
          <ns1:prstGeom prst="bentConnector4">
            <ns1:avLst/>
          </ns1:prstGeom>
          <ns1:ln w="28575">
            <ns1:solidFill>
              <ns1:srgbClr val="7454A0"/>
            </ns1:solidFill>
            <ns1:prstDash val="dash"/>
            <ns1:tailEnd type="triangle" w="med" len="med"/>
          </ns1:ln>
        </ns0:spPr>
      </ns0:cxnSp>
      <ns0:cxnSp>
        <ns0:nvCxnSpPr>
          <ns0:cNvPr id="20" name="">
            <ns1:extLst>
              <ns1:ext uri="{FF2B5EF4-FFF2-40B4-BE49-F238E27FC236}">
                <ns2:creationId id="{4F93B7EC-D127-4F91-9FE2-CA462EA9EEB3}"/>
              </ns1:ext>
            </ns1:extLst>
          </ns0:cNvPr>
          <ns0:cNvCxnSpPr>
            <ns1:stCxn id="8" idx="0"/>
            <ns1:endCxn id="13" idx="1"/>
          </ns0:cNvCxnSpPr>
          <ns0:nvPr/>
        </ns0:nvCxnSpPr>
        <ns0:spPr>
          <ns1:xfrm>
            <ns1:off x="9353550" y="4191000"/>
            <ns1:ext cx="1676400" cy="114300"/>
          </ns1:xfrm>
          <ns1:prstGeom prst="straightConnector1">
            <ns1:avLst/>
          </ns1:prstGeom>
          <ns1:ln w="28575">
            <ns1:solidFill>
              <ns1:srgbClr val="7454A0"/>
            </ns1:solidFill>
            <ns1:prstDash val="solid"/>
            <ns1:tailEnd type="triangle" w="med" len="med"/>
          </ns1:ln>
        </ns0:spPr>
      </ns0:cxnSp>
      <ns0:cxnSp>
        <ns0:nvCxnSpPr>
          <ns0:cNvPr id="19" name="">
            <ns1:extLst>
              <ns1:ext uri="{FF2B5EF4-FFF2-40B4-BE49-F238E27FC236}">
                <ns2:creationId id="{D1923CBE-CFA0-4053-8B47-FB36F9873084}"/>
              </ns1:ext>
            </ns1:extLst>
          </ns0:cNvPr>
          <ns0:cNvCxnSpPr>
            <ns1:stCxn id="10" idx="3"/>
            <ns1:endCxn id="8" idx="3"/>
          </ns0:cNvCxnSpPr>
          <ns0:nvPr/>
        </ns0:nvCxnSpPr>
        <ns0:spPr>
          <ns1:xfrm flipV="1">
            <ns1:off x="4210050" y="4191000"/>
            <ns1:ext cx="1666875" cy="114300"/>
          </ns1:xfrm>
          <ns1:prstGeom prst="straightConnector1">
            <ns1:avLst/>
          </ns1:prstGeom>
          <ns1:ln w="28575">
            <ns1:solidFill>
              <ns1:srgbClr val="368B85"/>
            </ns1:solidFill>
            <ns1:prstDash val="solid"/>
            <ns1:tailEnd type="triangle" w="med" len="med"/>
          </ns1:ln>
        </ns0:spPr>
      </ns0:cxnSp>
      <ns0:cxnSp>
        <ns0:nvCxnSpPr>
          <ns0:cNvPr id="18" name="">
            <ns1:extLst>
              <ns1:ext uri="{FF2B5EF4-FFF2-40B4-BE49-F238E27FC236}">
                <ns2:creationId id="{A9AD16A2-C0AB-47AC-9671-7269EA0BDCA1}"/>
              </ns1:ext>
            </ns1:extLst>
          </ns0:cNvPr>
          <ns0:cNvCxnSpPr>
            <ns1:stCxn id="13" idx="2"/>
            <ns1:endCxn id="14" idx="0"/>
          </ns0:cNvCxnSpPr>
          <ns0:nvPr/>
        </ns0:nvCxnSpPr>
        <ns0:spPr>
          <ns1:xfrm>
            <ns1:off x="12744450" y="4657725"/>
            <ns1:ext cx="0" cy="561975"/>
          </ns1:xfrm>
          <ns1:prstGeom prst="straightConnector1">
            <ns1:avLst/>
          </ns1:prstGeom>
          <ns1:ln w="28575">
            <ns1:solidFill>
              <ns1:srgbClr val="7454A0"/>
            </ns1:solidFill>
            <ns1:prstDash val="solid"/>
            <ns1:tailEnd type="triangle" w="med" len="med"/>
          </ns1:ln>
        </ns0:spPr>
      </ns0:cxnSp>
      <ns0:cxnSp>
        <ns0:nvCxnSpPr>
          <ns0:cNvPr id="17" name="">
            <ns1:extLst>
              <ns1:ext uri="{FF2B5EF4-FFF2-40B4-BE49-F238E27FC236}">
                <ns2:creationId id="{C7A93851-F445-4685-A268-F082D26B58AB}"/>
              </ns1:ext>
            </ns1:extLst>
          </ns0:cNvPr>
          <ns0:cNvCxnSpPr>
            <ns1:stCxn id="12" idx="2"/>
            <ns1:endCxn id="13" idx="0"/>
          </ns0:cNvCxnSpPr>
          <ns0:nvPr/>
        </ns0:nvCxnSpPr>
        <ns0:spPr>
          <ns1:xfrm>
            <ns1:off x="12744450" y="3390900"/>
            <ns1:ext cx="0" cy="561975"/>
          </ns1:xfrm>
          <ns1:prstGeom prst="straightConnector1">
            <ns1:avLst/>
          </ns1:prstGeom>
          <ns1:ln w="28575">
            <ns1:solidFill>
              <ns1:srgbClr val="7454A0"/>
            </ns1:solidFill>
            <ns1:prstDash val="solid"/>
            <ns1:tailEnd type="triangle" w="med" len="med"/>
          </ns1:ln>
        </ns0:spPr>
      </ns0:cxnSp>
      <ns0:cxnSp>
        <ns0:nvCxnSpPr>
          <ns0:cNvPr id="16" name="">
            <ns1:extLst>
              <ns1:ext uri="{FF2B5EF4-FFF2-40B4-BE49-F238E27FC236}">
                <ns2:creationId id="{838A67C8-04CA-4574-9948-98BA6A5142A1}"/>
              </ns1:ext>
            </ns1:extLst>
          </ns0:cNvPr>
          <ns0:cNvCxnSpPr>
            <ns1:stCxn id="10" idx="2"/>
            <ns1:endCxn id="11" idx="0"/>
          </ns0:cNvCxnSpPr>
          <ns0:nvPr/>
        </ns0:nvCxnSpPr>
        <ns0:spPr>
          <ns1:xfrm>
            <ns1:off x="2495550" y="4657725"/>
            <ns1:ext cx="0" cy="561975"/>
          </ns1:xfrm>
          <ns1:prstGeom prst="straightConnector1">
            <ns1:avLst/>
          </ns1:prstGeom>
          <ns1:ln w="28575">
            <ns1:solidFill>
              <ns1:srgbClr val="368B85"/>
            </ns1:solidFill>
            <ns1:prstDash val="solid"/>
            <ns1:tailEnd type="triangle" w="med" len="med"/>
          </ns1:ln>
        </ns0:spPr>
      </ns0:cxnSp>
      <ns0:cxnSp>
        <ns0:nvCxnSpPr>
          <ns0:cNvPr id="15" name="">
            <ns1:extLst>
              <ns1:ext uri="{FF2B5EF4-FFF2-40B4-BE49-F238E27FC236}">
                <ns2:creationId id="{9020D197-2900-4511-91CD-5296CEAF5D1D}"/>
              </ns1:ext>
            </ns1:extLst>
          </ns0:cNvPr>
          <ns0:cNvCxnSpPr>
            <ns1:stCxn id="9" idx="2"/>
            <ns1:endCxn id="10" idx="0"/>
          </ns0:cNvCxnSpPr>
          <ns0:nvPr/>
        </ns0:nvCxnSpPr>
        <ns0:spPr>
          <ns1:xfrm>
            <ns1:off x="2495550" y="3390900"/>
            <ns1:ext cx="0" cy="561975"/>
          </ns1:xfrm>
          <ns1:prstGeom prst="straightConnector1">
            <ns1:avLst/>
          </ns1:prstGeom>
          <ns1:ln w="28575">
            <ns1:solidFill>
              <ns1:srgbClr val="368B85"/>
            </ns1:solidFill>
            <ns1:prstDash val="solid"/>
            <ns1:tailEnd type="triangle" w="med" len="med"/>
          </ns1:ln>
        </ns0:spPr>
      </ns0:cxnSp>
      <ns0:sp>
        <ns0:nvSpPr>
          <ns0:cNvPr id="25" name="材料设计与应用验证">
            <ns1:extLst>
              <ns1:ext uri="{FF2B5EF4-FFF2-40B4-BE49-F238E27FC236}">
                <ns2:creationId id="{9573274B-C1D9-4F51-82D6-C315270E915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61950"/>
            <ns1:ext cx="14020800" cy="657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l">
              <ns1:defRPr sz="3600" b="1">
                <ns1:solidFill>
                  <ns1:srgbClr val="214969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3600" b="1">
                <ns1:solidFill>
                  <ns1:srgbClr val="214969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600" b="1">
                <ns1:solidFill>
                  <ns1:srgbClr val="214969"/>
                </ns1:solidFill>
                <ns1:latin typeface="Microsoft YaHei"/>
                <ns1:ea typeface="Microsoft YaHei"/>
                <ns1:cs typeface="Microsoft YaHei"/>
              </ns1:rPr>
              <ns1:t>材料设计与应用验证</ns1:t>
            </ns1:r>
          </ns1:p>
        </ns0:txBody>
      </ns0:sp>
      <ns0:sp>
        <ns0:nvSpPr>
          <ns0:cNvPr id="2" name="双侧协同 · 结构变量和使用条件在共同目标下对应">
            <ns1:extLst>
              <ns1:ext uri="{FF2B5EF4-FFF2-40B4-BE49-F238E27FC236}">
                <ns2:creationId id="{8E57D8AC-AB14-4109-B3FC-83327A3CCE7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1047750"/>
            <ns1:ext cx="14020800" cy="4476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l">
              <ns1:defRPr sz="1875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875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rPr>
              <ns1:t>双侧协同 · 结构变量和使用条件在共同目标下对应</ns1:t>
            </ns1:r>
          </ns1:p>
        </ns0:txBody>
      </ns0:sp>
      <ns0:sp>
        <ns0:nvSpPr>
          <ns0:cNvPr id="3" name="原创教学布局示例 · 非实验结果">
            <ns1:extLst>
              <ns1:ext uri="{FF2B5EF4-FFF2-40B4-BE49-F238E27FC236}">
                <ns2:creationId id="{E8F68B99-D2C5-43A2-85AF-112BFF722A2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001000"/>
            <ns1:ext cx="12858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l">
              <ns1:defRPr sz="1350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1350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rPr>
              <ns1:t>原创教学布局示例 · 非实验结果</ns1:t>
            </ns1:r>
          </ns1:p>
        </ns0:txBody>
      </ns0:sp>
      <ns0:sp>
        <ns0:nvSpPr>
          <ns0:cNvPr id="4" name="02">
            <ns1:extLst>
              <ns1:ext uri="{FF2B5EF4-FFF2-40B4-BE49-F238E27FC236}">
                <ns2:creationId id="{D38BB543-955A-4680-807C-E1F1D0268728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7972425"/>
            <ns1:ext cx="809625" cy="352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r">
              <ns1:defRPr sz="1500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r">
              <ns1:defRPr sz="1500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567080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sp>
        <ns0:nvSpPr>
          <ns0:cNvPr id="5" name="材料设计">
            <ns1:extLst>
              <ns1:ext uri="{FF2B5EF4-FFF2-40B4-BE49-F238E27FC236}">
                <ns2:creationId id="{00DB0C5F-9988-4A62-8A80-762AD0A281C8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1781175"/>
            <ns1:ext cx="4333875" cy="609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l">
              <ns1:defRPr sz="27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27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rPr>
              <ns1:t>材料设计</ns1:t>
            </ns1:r>
          </ns1:p>
        </ns0:txBody>
      </ns0:sp>
      <ns0:sp>
        <ns0:nvSpPr>
          <ns0:cNvPr id="6" name="共同研究目标">
            <ns1:extLst>
              <ns1:ext uri="{FF2B5EF4-FFF2-40B4-BE49-F238E27FC236}">
                <ns2:creationId id="{6DAAB16D-336E-4947-9725-E6AB0C3BB6EA}"/>
              </ns1:ext>
            </ns1:extLst>
          </ns0:cNvPr>
          <ns0:cNvSpPr>
            <ns1:spLocks noGrp="1"/>
          </ns0:cNvSpPr>
          <ns0:nvPr/>
        </ns0:nvSpPr>
        <ns0:spPr>
          <ns1:xfrm>
            <ns1:off x="5734050" y="1762125"/>
            <ns1:ext cx="3762375" cy="609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ctr">
              <ns1:defRPr sz="2400" b="1">
                <ns1:solidFill>
                  <ns1:srgbClr val="214969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400" b="1">
                <ns1:solidFill>
                  <ns1:srgbClr val="214969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214969"/>
                </ns1:solidFill>
                <ns1:latin typeface="Microsoft YaHei"/>
                <ns1:ea typeface="Microsoft YaHei"/>
                <ns1:cs typeface="Microsoft YaHei"/>
              </ns1:rPr>
              <ns1:t>共同研究目标</ns1:t>
            </ns1:r>
          </ns1:p>
        </ns0:txBody>
      </ns0:sp>
      <ns0:sp>
        <ns0:nvSpPr>
          <ns0:cNvPr id="7" name="应用验证">
            <ns1:extLst>
              <ns1:ext uri="{FF2B5EF4-FFF2-40B4-BE49-F238E27FC236}">
                <ns2:creationId id="{300E32EF-8E7A-4B31-A920-FABB94FBEDB2}"/>
              </ns1:ext>
            </ns1:extLst>
          </ns0:cNvPr>
          <ns0:cNvSpPr>
            <ns1:spLocks noGrp="1"/>
          </ns0:cNvSpPr>
          <ns0:nvPr/>
        </ns0:nvSpPr>
        <ns0:spPr>
          <ns1:xfrm>
            <ns1:off x="10382250" y="1781175"/>
            <ns1:ext cx="4333875" cy="609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l">
              <ns1:defRPr sz="27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l">
              <ns1:defRPr sz="27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rPr>
              <ns1:t>应用验证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088B319-33B3-4D54-A2DD-55725485EFB8}"/>
              </ns1:ext>
            </ns1:extLst>
          </ns0:cNvPr>
          <ns0:cNvSpPr>
            <ns1:spLocks noGrp="1"/>
          </ns0:cNvSpPr>
          <ns0:nvPr/>
        </ns0:nvSpPr>
        <ns0:spPr>
          <ns1:xfrm>
            <ns1:off x="5876925" y="3181350"/>
            <ns1:ext cx="3476625" cy="2019300"/>
          </ns1:xfrm>
          <ns1:prstGeom prst="hexagon">
            <ns1:avLst/>
          </ns1:prstGeom>
          <ns1:solidFill>
            <ns1:srgbClr val="214969"/>
          </ns1:solidFill>
          <ns1:ln w="14288">
            <ns1:solidFill>
              <ns1:srgbClr val="C8D8E0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247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47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满足给定场景的</ns1:t>
            </ns1:r>
          </ns1:p>
          <ns1:p>
            <ns1:pPr algn="ctr">
              <ns1:defRPr sz="247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rPr>
              <ns1:t>性能与成本要求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B54E9401-E5DF-4E6B-9ED2-BDEF73E96B68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686050"/>
            <ns1:ext cx="3429000" cy="704850"/>
          </ns1:xfrm>
          <ns1:prstGeom prst="rect">
            <ns1:avLst/>
          </ns1:prstGeom>
          <ns1:solidFill>
            <ns1:srgbClr val="F1F7F6"/>
          </ns1:solidFill>
          <ns1:ln w="14288">
            <ns1:solidFill>
              <ns1:srgbClr val="C8D8E0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rPr>
              <ns1:t>结构变量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B5ADEA5-7E43-4906-A3A2-2DF6E131B0BA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3952875"/>
            <ns1:ext cx="3429000" cy="704850"/>
          </ns1:xfrm>
          <ns1:prstGeom prst="rect">
            <ns1:avLst/>
          </ns1:prstGeom>
          <ns1:solidFill>
            <ns1:srgbClr val="F1F7F6"/>
          </ns1:solidFill>
          <ns1:ln w="14288">
            <ns1:solidFill>
              <ns1:srgbClr val="C8D8E0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rPr>
              <ns1:t>制备与加工条件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4C54C256-9E83-468D-9154-C277C47C436F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5219700"/>
            <ns1:ext cx="3429000" cy="704850"/>
          </ns1:xfrm>
          <ns1:prstGeom prst="rect">
            <ns1:avLst/>
          </ns1:prstGeom>
          <ns1:solidFill>
            <ns1:srgbClr val="F1F7F6"/>
          </ns1:solidFill>
          <ns1:ln w="14288">
            <ns1:solidFill>
              <ns1:srgbClr val="C8D8E0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rPr>
              <ns1:t>表征与样品记录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E026B9EC-8B3B-4836-A1CC-5BA054326C3F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2686050"/>
            <ns1:ext cx="3429000" cy="704850"/>
          </ns1:xfrm>
          <ns1:prstGeom prst="rect">
            <ns1:avLst/>
          </ns1:prstGeom>
          <ns1:solidFill>
            <ns1:srgbClr val="F5F1F9"/>
          </ns1:solidFill>
          <ns1:ln w="14288">
            <ns1:solidFill>
              <ns1:srgbClr val="C8D8E0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rPr>
              <ns1:t>使用条件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C647C576-1509-43F8-B166-31D8E6FF7F2D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3952875"/>
            <ns1:ext cx="3429000" cy="704850"/>
          </ns1:xfrm>
          <ns1:prstGeom prst="rect">
            <ns1:avLst/>
          </ns1:prstGeom>
          <ns1:solidFill>
            <ns1:srgbClr val="F5F1F9"/>
          </ns1:solidFill>
          <ns1:ln w="14288">
            <ns1:solidFill>
              <ns1:srgbClr val="C8D8E0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rPr>
              <ns1:t>评价指标与对照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B2A23E2E-BEEA-4313-971C-ECE75C22444E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5219700"/>
            <ns1:ext cx="3429000" cy="704850"/>
          </ns1:xfrm>
          <ns1:prstGeom prst="rect">
            <ns1:avLst/>
          </ns1:prstGeom>
          <ns1:solidFill>
            <ns1:srgbClr val="F5F1F9"/>
          </ns1:solidFill>
          <ns1:ln w="14288">
            <ns1:solidFill>
              <ns1:srgbClr val="C8D8E0"/>
            </ns1:solidFill>
          </ns1:ln>
        </ns0:spPr>
        <ns0:txBody>
          <ns1:bodyPr lIns="114300" tIns="114300" rIns="114300" bIns="114300" anchor="ctr">
            <ns1:noAutofit/>
          </ns1:bodyPr>
          <ns1:lstStyle>
            <ns1:defPPr algn="ctr">
              <ns1:def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rPr>
              <ns1:t>验证记录与边界</ns1:t>
            </ns1:r>
          </ns1:p>
        </ns0:txBody>
      </ns0:sp>
      <ns0:sp>
        <ns0:nvSpPr>
          <ns0:cNvPr id="22" name="可调控因素">
            <ns1:extLst>
              <ns1:ext uri="{FF2B5EF4-FFF2-40B4-BE49-F238E27FC236}">
                <ns2:creationId id="{7C7B3B6A-305E-4D7E-A12A-BB1AA47B55E0}"/>
              </ns1:ext>
            </ns1:extLst>
          </ns0:cNvPr>
          <ns0:cNvSpPr>
            <ns1:spLocks noGrp="1"/>
          </ns0:cNvSpPr>
          <ns0:nvPr/>
        </ns0:nvSpPr>
        <ns0:spPr>
          <ns1:xfrm>
            <ns1:off x="4257675" y="4086225"/>
            <ns1:ext cx="1571625" cy="5334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ctr">
              <ns1:defRPr sz="1725" b="0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725" b="0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368B85"/>
                </ns1:solidFill>
                <ns1:latin typeface="Microsoft YaHei"/>
                <ns1:ea typeface="Microsoft YaHei"/>
                <ns1:cs typeface="Microsoft YaHei"/>
              </ns1:rPr>
              <ns1:t>可调控因素</ns1:t>
            </ns1:r>
          </ns1:p>
        </ns0:txBody>
      </ns0:sp>
      <ns0:sp>
        <ns0:nvSpPr>
          <ns0:cNvPr id="23" name="待评价要求">
            <ns1:extLst>
              <ns1:ext uri="{FF2B5EF4-FFF2-40B4-BE49-F238E27FC236}">
                <ns2:creationId id="{1B0B4A3B-3EDF-4771-B6FF-88ABE5BE248D}"/>
              </ns1:ext>
            </ns1:extLst>
          </ns0:cNvPr>
          <ns0:cNvSpPr>
            <ns1:spLocks noGrp="1"/>
          </ns0:cNvSpPr>
          <ns0:nvPr/>
        </ns0:nvSpPr>
        <ns0:spPr>
          <ns1:xfrm>
            <ns1:off x="9391650" y="4086225"/>
            <ns1:ext cx="1562100" cy="5334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ctr">
              <ns1:defRPr sz="1725" b="0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1725" b="0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rPr>
              <ns1:t>待评价要求</ns1:t>
            </ns1:r>
          </ns1:p>
        </ns0:txBody>
      </ns0:sp>
      <ns0:sp>
        <ns0:nvSpPr>
          <ns0:cNvPr id="24" name="验证结果反馈到设计条件">
            <ns1:extLst>
              <ns1:ext uri="{FF2B5EF4-FFF2-40B4-BE49-F238E27FC236}">
                <ns2:creationId id="{3298D4AE-A6CA-49A0-8B93-6DCC47384953}"/>
              </ns1:ext>
            </ns1:extLst>
          </ns0:cNvPr>
          <ns0:cNvSpPr>
            <ns1:spLocks noGrp="1"/>
          </ns0:cNvSpPr>
          <ns0:nvPr/>
        </ns0:nvSpPr>
        <ns0:spPr>
          <ns1:xfrm>
            <ns1:off x="5143500" y="6734175"/>
            <ns1:ext cx="49530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ctr">
            <ns1:noAutofit/>
          </ns1:bodyPr>
          <ns1:lstStyle>
            <ns1:defPPr algn="ctr">
              <ns1:def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 algn="ctr">
              <ns1:def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7454A0"/>
                </ns1:solidFill>
                <ns1:latin typeface="Microsoft YaHei"/>
                <ns1:ea typeface="Microsoft YaHei"/>
                <ns1:cs typeface="Microsoft YaHei"/>
              </ns1:rPr>
              <ns1:t>验证结果反馈到表征记录</ns1:t>
            </ns1:r>
          </ns1:p>
        </ns0:txBody>
      </ns0:sp>
    </ns0:spTree>
    <ns0:extLst>
      <ns0:ext uri="{BB962C8B-B14F-4D97-AF65-F5344CB8AC3E}">
        <ns3:creationId val="1652032343"/>
      </ns0:ext>
    </ns0:extLst>
  </ns0:cSld>
</ns0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E9D0DB-D844-4100-903E-BCA62915A693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91563" y="578167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527A8E-8865-4957-A3F0-11454BF3C7B0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0363200" y="663416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936DA-73B1-4125-AFA9-FAF286183CAE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305550" y="66341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E9AF1-D2D7-40E7-9EA3-B7C81EF27537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691563" y="44196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509CC-A719-4FA9-ADBD-59CCB1178E0D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363200" y="52720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A551D-B25D-4936-9173-551FD05E52C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05550" y="52720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EE597-F4F8-438D-B551-30FE2B43D5F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691563" y="305752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4D612-A4DA-4CF7-AC4F-696CECDEB0B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363200" y="39100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CE79C-356A-4AA3-BD3A-EB5C4BD5614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305550" y="391001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A6ABE-C0A1-4609-B07F-6EFC09CCE70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363200" y="25479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C76A2-EBD2-41DC-8100-1D69689B718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305550" y="25479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sp>
        <p:nvSpPr>
          <p:cNvPr id="33" name="多层研究技术路线">
            <a:extLst xmlns:a="http://schemas.openxmlformats.org/drawingml/2006/main">
              <a:ext uri="{FF2B5EF4-FFF2-40B4-BE49-F238E27FC236}">
                <a16:creationId xmlns:a16="http://schemas.microsoft.com/office/drawing/2014/main" id="{F52E03C6-81D5-4034-A087-8F57361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多层研究技术路线</a:t>
            </a:r>
          </a:p>
        </p:txBody>
      </p:sp>
      <p:sp>
        <p:nvSpPr>
          <p:cNvPr id="2" name="层级推进 · 每一层保留具体对象、动作和输出">
            <a:extLst xmlns:a="http://schemas.openxmlformats.org/drawingml/2006/main">
              <a:ext uri="{FF2B5EF4-FFF2-40B4-BE49-F238E27FC236}">
                <a16:creationId xmlns:a16="http://schemas.microsoft.com/office/drawing/2014/main" id="{7FB4EFD6-20C7-40D4-AB2F-29FE5A04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层级推进 · 每一层保留具体对象、动作和输出</a:t>
            </a:r>
          </a:p>
        </p:txBody>
      </p:sp>
      <p:sp>
        <p:nvSpPr>
          <p:cNvPr id="3" name="原创教学布局示例 · 非实验结果">
            <a:extLst xmlns:a="http://schemas.openxmlformats.org/drawingml/2006/main">
              <a:ext uri="{FF2B5EF4-FFF2-40B4-BE49-F238E27FC236}">
                <a16:creationId xmlns:a16="http://schemas.microsoft.com/office/drawing/2014/main" id="{35FC5827-D249-450A-8FB8-C19EC7C4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原创教学布局示例 · 非实验结果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C07D0D4B-8F39-4A76-A4A1-643CB4B1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EFA60-3BD0-44F1-B024-AA1D5C0B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771650" cy="10191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68B85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93BD9-D1EA-42F4-86DE-CBA0E2F1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38350"/>
            <a:ext cx="3343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原文 / 数据 / 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A88D3-26E5-4655-B058-FE71A411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38350"/>
            <a:ext cx="3343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筛选、整理与标注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92558-B53E-4706-8C36-9CD8E91B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038350"/>
            <a:ext cx="355282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输入清单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E9A3F-84C0-4819-AF6A-E9BAD651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00425"/>
            <a:ext cx="1771650" cy="10191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1496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1452D-2348-4A4F-AD97-7FAC1561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00425"/>
            <a:ext cx="3343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变量 / 条件 / 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74380-311B-43A1-8952-DE7E2863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00425"/>
            <a:ext cx="3343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分析、计算或实验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F5A6C-F80D-47B2-B2A0-9F4219DF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400425"/>
            <a:ext cx="355282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执行记录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6C238-2959-4899-9CF7-8B97FEDD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771650" cy="10191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454A0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7EC76-F12A-492D-9AC5-F052B4CC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762500"/>
            <a:ext cx="3343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结果 / 对照 / 误差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D029A-AEAC-4D1A-BE7B-ECDF4E45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62500"/>
            <a:ext cx="3343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比较、解释与复核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3D11D-FA2C-4246-BDDD-4200EC0F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762500"/>
            <a:ext cx="355282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证据图表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1C0D4-574F-4FFD-90DD-FF940B54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24575"/>
            <a:ext cx="1771650" cy="10191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68B85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9AEA7-C5CE-4BB8-BD43-EDB5189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124575"/>
            <a:ext cx="3343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主张 / 适用条件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8E300C-22DD-49E2-BCF3-D3AAB2D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124575"/>
            <a:ext cx="3343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归纳、限定与修订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65FCD-2A16-4BAB-BE90-54F2772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124575"/>
            <a:ext cx="355282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可追溯结论</a:t>
            </a:r>
          </a:p>
        </p:txBody>
      </p:sp>
      <p:sp>
        <p:nvSpPr>
          <p:cNvPr id="32" name="层级之间的箭头表示研究推进，横向箭头表示本层工作。">
            <a:extLst xmlns:a="http://schemas.openxmlformats.org/drawingml/2006/main">
              <a:ext uri="{FF2B5EF4-FFF2-40B4-BE49-F238E27FC236}">
                <a16:creationId xmlns:a16="http://schemas.microsoft.com/office/drawing/2014/main" id="{3F430636-38DF-403F-B58A-CB68FC24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4485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层级之间的箭头表示研究推进，横向箭头表示本层工作。</a:t>
            </a:r>
          </a:p>
        </p:txBody>
      </p:sp>
    </p:spTree>
    <p:extLst>
      <p:ext uri="{BB962C8B-B14F-4D97-AF65-F5344CB8AC3E}">
        <p14:creationId xmlns:p14="http://schemas.microsoft.com/office/powerpoint/2010/main" val="161248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FEF5A-DD3E-4219-A027-A84A32990D1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8362950" y="3433763"/>
            <a:ext cx="1590675" cy="11572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A6F1C-C4A8-4B43-A566-798EA58301A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362950" y="2447925"/>
            <a:ext cx="1590675" cy="9858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0C504-1B5C-4E08-AAC2-829AC53099E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24275" y="2671763"/>
            <a:ext cx="1133475" cy="19192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1C127-81BC-4E12-B9C2-253B9499814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724275" y="2447925"/>
            <a:ext cx="1133475" cy="2238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sp>
        <p:nvSpPr>
          <p:cNvPr id="14" name="实验对照与评价设计">
            <a:extLst xmlns:a="http://schemas.openxmlformats.org/drawingml/2006/main">
              <a:ext uri="{FF2B5EF4-FFF2-40B4-BE49-F238E27FC236}">
                <a16:creationId xmlns:a16="http://schemas.microsoft.com/office/drawing/2014/main" id="{3542F0B3-FC24-43D2-9212-04F2231C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实验对照与评价设计</a:t>
            </a:r>
          </a:p>
        </p:txBody>
      </p:sp>
      <p:sp>
        <p:nvSpPr>
          <p:cNvPr id="2" name="先明确比较对象，再连接测量、评价和适用条件">
            <a:extLst xmlns:a="http://schemas.openxmlformats.org/drawingml/2006/main">
              <a:ext uri="{FF2B5EF4-FFF2-40B4-BE49-F238E27FC236}">
                <a16:creationId xmlns:a16="http://schemas.microsoft.com/office/drawing/2014/main" id="{4447CBB7-68E2-4819-BA08-D1F6C032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先明确比较对象，再连接测量、评价和适用条件</a:t>
            </a:r>
          </a:p>
        </p:txBody>
      </p:sp>
      <p:sp>
        <p:nvSpPr>
          <p:cNvPr id="3" name="原创教学布局示例 · 非实验结果">
            <a:extLst xmlns:a="http://schemas.openxmlformats.org/drawingml/2006/main">
              <a:ext uri="{FF2B5EF4-FFF2-40B4-BE49-F238E27FC236}">
                <a16:creationId xmlns:a16="http://schemas.microsoft.com/office/drawing/2014/main" id="{4EAA2869-56FA-4227-844E-3C8DFDBC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原创教学布局示例 · 非实验结果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0F40D4D3-B262-4A38-9A17-89AB6B6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1CE64-820B-4ABB-8EA9-E04DE1F9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31146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96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研究问题与判据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71D5F-9B7F-4922-9537-1948577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3505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实验组</a:t>
            </a:r>
          </a:p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改变研究变量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0AADC-F453-49DF-AC8C-F838AF66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33825"/>
            <a:ext cx="3505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对照组</a:t>
            </a:r>
          </a:p>
          <a:p xmlns:a="http://schemas.openxmlformats.org/drawingml/2006/main">
            <a:pPr algn="ctr">
              <a:defRPr sz="21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保留比较基准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26441-CB19-4603-A2A3-3AA25B96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86050"/>
            <a:ext cx="46672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一致的测量方式</a:t>
            </a:r>
          </a:p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指标、时间与样本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D5572-EE2B-453C-9C9D-F924E7A0A74D}"/>
              </a:ext>
            </a:extLst>
          </p:cNvPr>
          <p:cNvGraphicFramePr/>
          <p:nvPr/>
        </p:nvGraphicFramePr>
        <p:xfrm>
          <a:off xmlns:a="http://schemas.openxmlformats.org/drawingml/2006/main" x="609600" y="5715000"/>
          <a:ext xmlns:a="http://schemas.openxmlformats.org/drawingml/2006/main" cx="14011275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619750"/>
                <a:gridCol w="4676775"/>
              </a:tblGrid>
              <a:tr h="464344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需控制的条件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记录内容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评价时检查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</a:tr>
              <a:tr h="464344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样本与重复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分组依据 / 重复方式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组间可比性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测量与时间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指标定义 / 时间窗口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单位与范围一致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</a:tr>
              <a:tr h="464344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结果与边界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误差表示 / 异常处理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结论是否超过证据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74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三类证据的交叉核对">
            <a:extLst xmlns:a="http://schemas.openxmlformats.org/drawingml/2006/main">
              <a:ext uri="{FF2B5EF4-FFF2-40B4-BE49-F238E27FC236}">
                <a16:creationId xmlns:a16="http://schemas.microsoft.com/office/drawing/2014/main" id="{FCEC63B8-B71E-4AFA-972E-9E03CBF1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三类证据的交叉核对</a:t>
            </a:r>
          </a:p>
        </p:txBody>
      </p:sp>
      <p:sp>
        <p:nvSpPr>
          <p:cNvPr id="2" name="验证矩阵 · 用真实证据回答不同的判断问题">
            <a:extLst xmlns:a="http://schemas.openxmlformats.org/drawingml/2006/main">
              <a:ext uri="{FF2B5EF4-FFF2-40B4-BE49-F238E27FC236}">
                <a16:creationId xmlns:a16="http://schemas.microsoft.com/office/drawing/2014/main" id="{570FC7DF-9CE3-4C62-9D5D-A412564E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验证矩阵 · 用真实证据回答不同的判断问题</a:t>
            </a:r>
          </a:p>
        </p:txBody>
      </p:sp>
      <p:sp>
        <p:nvSpPr>
          <p:cNvPr id="3" name="原创教学布局示例 · 非实验结果">
            <a:extLst xmlns:a="http://schemas.openxmlformats.org/drawingml/2006/main">
              <a:ext uri="{FF2B5EF4-FFF2-40B4-BE49-F238E27FC236}">
                <a16:creationId xmlns:a16="http://schemas.microsoft.com/office/drawing/2014/main" id="{89110B41-FB09-4EA3-B0DE-12A7177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原创教学布局示例 · 非实验结果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B704C958-3C72-40EE-B14C-1ADDB42D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11BE-B9A9-44AA-89DE-440B9FBDA7FC}"/>
              </a:ext>
            </a:extLst>
          </p:cNvPr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4011275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810000"/>
                <a:gridCol w="3819525"/>
                <a:gridCol w="3619500"/>
              </a:tblGrid>
              <a:tr h="10096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判断问题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文献与原始材料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执行与实验记录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独立复核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</a:tr>
              <a:tr h="10096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方法是否适用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理论依据与使用条件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参数、环境与样本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边界条件测试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结果是否可信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原始数据与图表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误差、日志与对照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重复计算或测量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</a:tr>
              <a:tr h="10096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结论是否充分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主张对应的来源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证据覆盖的范围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反例与局限检查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阵中填写证据对象及位置，不用装饰性的“全部通过”。">
            <a:extLst xmlns:a="http://schemas.openxmlformats.org/drawingml/2006/main">
              <a:ext uri="{FF2B5EF4-FFF2-40B4-BE49-F238E27FC236}">
                <a16:creationId xmlns:a16="http://schemas.microsoft.com/office/drawing/2014/main" id="{5BBE7A34-8D10-47CA-A1F0-3465770C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34175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矩阵中填写证据对象及位置，不用装饰性的“全部通过”。</a:t>
            </a:r>
          </a:p>
        </p:txBody>
      </p:sp>
    </p:spTree>
    <p:extLst>
      <p:ext uri="{BB962C8B-B14F-4D97-AF65-F5344CB8AC3E}">
        <p14:creationId xmlns:p14="http://schemas.microsoft.com/office/powerpoint/2010/main" val="158694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结果图与结论边界">
            <a:extLst xmlns:a="http://schemas.openxmlformats.org/drawingml/2006/main">
              <a:ext uri="{FF2B5EF4-FFF2-40B4-BE49-F238E27FC236}">
                <a16:creationId xmlns:a16="http://schemas.microsoft.com/office/drawing/2014/main" id="{71D27921-BE9A-40C4-B9EB-D7D5CE1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结果图与结论边界</a:t>
            </a:r>
          </a:p>
        </p:txBody>
      </p:sp>
      <p:sp>
        <p:nvSpPr>
          <p:cNvPr id="2" name="主结果图 · 数据口径 · 解释与限制">
            <a:extLst xmlns:a="http://schemas.openxmlformats.org/drawingml/2006/main">
              <a:ext uri="{FF2B5EF4-FFF2-40B4-BE49-F238E27FC236}">
                <a16:creationId xmlns:a16="http://schemas.microsoft.com/office/drawing/2014/main" id="{0B58C158-C574-460C-8457-C896AD08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主结果图 · 数据口径 · 解释与限制</a:t>
            </a:r>
          </a:p>
        </p:txBody>
      </p:sp>
      <p:sp>
        <p:nvSpPr>
          <p:cNvPr id="3" name="原创教学布局示例 · 非实验结果">
            <a:extLst xmlns:a="http://schemas.openxmlformats.org/drawingml/2006/main">
              <a:ext uri="{FF2B5EF4-FFF2-40B4-BE49-F238E27FC236}">
                <a16:creationId xmlns:a16="http://schemas.microsoft.com/office/drawing/2014/main" id="{E1B8451A-6B46-434C-AEF8-B5ECA457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原创教学布局示例 · 非实验结果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9A8E1352-AE14-4CDC-AF6F-CE170F18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E205A22-63C3-4FAE-BCD8-7131F889EE24}"/>
              </a:ext>
            </a:extLst>
          </p:cNvPr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889635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1494fc36344d1a"/>
          </a:graphicData>
        </a:graphic>
      </p:graphicFrame>
      <p:sp>
        <p:nvSpPr>
          <p:cNvPr id="6" name="模拟数据">
            <a:extLst xmlns:a="http://schemas.openxmlformats.org/drawingml/2006/main">
              <a:ext uri="{FF2B5EF4-FFF2-40B4-BE49-F238E27FC236}">
                <a16:creationId xmlns:a16="http://schemas.microsoft.com/office/drawing/2014/main" id="{E0C7DDA8-9E07-4F10-975A-39FD6E50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19325"/>
            <a:ext cx="400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7" name="12 / 16 / 19&#10;仅演示图形和数据编辑">
            <a:extLst xmlns:a="http://schemas.openxmlformats.org/drawingml/2006/main">
              <a:ext uri="{FF2B5EF4-FFF2-40B4-BE49-F238E27FC236}">
                <a16:creationId xmlns:a16="http://schemas.microsoft.com/office/drawing/2014/main" id="{6DAB9C04-B41D-4947-BFED-85BFDDF3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14650"/>
            <a:ext cx="4057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12 / 16 / 19</a:t>
            </a:r>
          </a:p>
          <a:p xmlns:a="http://schemas.openxmlformats.org/drawingml/2006/main">
            <a:pPr algn="l">
              <a:defRPr sz="21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仅演示图形和数据编辑</a:t>
            </a:r>
          </a:p>
        </p:txBody>
      </p:sp>
      <p:sp>
        <p:nvSpPr>
          <p:cNvPr id="8" name="实际研究需要补充">
            <a:extLst xmlns:a="http://schemas.openxmlformats.org/drawingml/2006/main">
              <a:ext uri="{FF2B5EF4-FFF2-40B4-BE49-F238E27FC236}">
                <a16:creationId xmlns:a16="http://schemas.microsoft.com/office/drawing/2014/main" id="{0FE185CE-B890-4F54-A51B-9C4ECC5A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0"/>
            <a:ext cx="4057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实际研究需要补充</a:t>
            </a:r>
          </a:p>
        </p:txBody>
      </p:sp>
      <p:sp>
        <p:nvSpPr>
          <p:cNvPr id="9" name="指标定义与单位&#10;样本、对照与误差&#10;来源和适用条件">
            <a:extLst xmlns:a="http://schemas.openxmlformats.org/drawingml/2006/main">
              <a:ext uri="{FF2B5EF4-FFF2-40B4-BE49-F238E27FC236}">
                <a16:creationId xmlns:a16="http://schemas.microsoft.com/office/drawing/2014/main" id="{ADE118C2-EEEE-4E31-98CA-84F1C2C0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38750"/>
            <a:ext cx="40576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指标定义与单位</a:t>
            </a:r>
          </a:p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样本、对照与误差</a:t>
            </a:r>
          </a:p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来源和适用条件</a:t>
            </a:r>
          </a:p>
        </p:txBody>
      </p:sp>
      <p:sp>
        <p:nvSpPr>
          <p:cNvPr id="10" name="未提供真实样本与误差，不能据此宣称显著性或普遍优势。">
            <a:extLst xmlns:a="http://schemas.openxmlformats.org/drawingml/2006/main">
              <a:ext uri="{FF2B5EF4-FFF2-40B4-BE49-F238E27FC236}">
                <a16:creationId xmlns:a16="http://schemas.microsoft.com/office/drawing/2014/main" id="{0254ADC0-766A-4DEF-B885-86BECBBD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62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未提供真实样本与误差，不能据此宣称显著性或普遍优势。</a:t>
            </a:r>
          </a:p>
        </p:txBody>
      </p:sp>
    </p:spTree>
    <p:extLst>
      <p:ext uri="{BB962C8B-B14F-4D97-AF65-F5344CB8AC3E}">
        <p14:creationId xmlns:p14="http://schemas.microsoft.com/office/powerpoint/2010/main" val="4552924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0DFE8-A674-489F-84CD-1D2F3248811A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9382125" y="36385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616AD-E634-43F0-BA29-5E374C957C09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4191000" y="36385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sp>
        <p:nvSpPr>
          <p:cNvPr id="13" name="研究材料与结论的对应">
            <a:extLst xmlns:a="http://schemas.openxmlformats.org/drawingml/2006/main">
              <a:ext uri="{FF2B5EF4-FFF2-40B4-BE49-F238E27FC236}">
                <a16:creationId xmlns:a16="http://schemas.microsoft.com/office/drawing/2014/main" id="{F2641079-839D-4A81-B0AE-80D429C8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研究材料与结论的对应</a:t>
            </a:r>
          </a:p>
        </p:txBody>
      </p:sp>
      <p:sp>
        <p:nvSpPr>
          <p:cNvPr id="2" name="现场讲解版：突出主线，补充说明放入讲解备注">
            <a:extLst xmlns:a="http://schemas.openxmlformats.org/drawingml/2006/main">
              <a:ext uri="{FF2B5EF4-FFF2-40B4-BE49-F238E27FC236}">
                <a16:creationId xmlns:a16="http://schemas.microsoft.com/office/drawing/2014/main" id="{7F075474-56B0-41E9-9A5F-AF513D9E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现场讲解版：突出主线，补充说明放入讲解备注</a:t>
            </a:r>
          </a:p>
        </p:txBody>
      </p:sp>
      <p:sp>
        <p:nvSpPr>
          <p:cNvPr id="3" name="原创教学布局示例 · 非实验结果">
            <a:extLst xmlns:a="http://schemas.openxmlformats.org/drawingml/2006/main">
              <a:ext uri="{FF2B5EF4-FFF2-40B4-BE49-F238E27FC236}">
                <a16:creationId xmlns:a16="http://schemas.microsoft.com/office/drawing/2014/main" id="{724DB5AA-2001-4148-A5EB-2F9A71B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原创教学布局示例 · 非实验结果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30647941-2B2C-4BD4-97C0-A46CAEE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F2935-C24D-47D2-87DB-31FD95E2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52425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2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6F452-CDB9-46D6-AB59-2C26F2B6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19400"/>
            <a:ext cx="352425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2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9BD17-7AB0-435A-8789-B0987278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19400"/>
            <a:ext cx="352425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32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0" name="可追溯来源">
            <a:extLst xmlns:a="http://schemas.openxmlformats.org/drawingml/2006/main">
              <a:ext uri="{FF2B5EF4-FFF2-40B4-BE49-F238E27FC236}">
                <a16:creationId xmlns:a16="http://schemas.microsoft.com/office/drawing/2014/main" id="{1AB55A41-C204-4420-90E1-51DC9702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可追溯来源</a:t>
            </a:r>
          </a:p>
        </p:txBody>
      </p:sp>
      <p:sp>
        <p:nvSpPr>
          <p:cNvPr id="11" name="可复核操作">
            <a:extLst xmlns:a="http://schemas.openxmlformats.org/drawingml/2006/main">
              <a:ext uri="{FF2B5EF4-FFF2-40B4-BE49-F238E27FC236}">
                <a16:creationId xmlns:a16="http://schemas.microsoft.com/office/drawing/2014/main" id="{DF097C76-029A-445C-BF36-38664D4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768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可复核操作</a:t>
            </a:r>
          </a:p>
        </p:txBody>
      </p:sp>
      <p:sp>
        <p:nvSpPr>
          <p:cNvPr id="12" name="有依据的边界">
            <a:extLst xmlns:a="http://schemas.openxmlformats.org/drawingml/2006/main">
              <a:ext uri="{FF2B5EF4-FFF2-40B4-BE49-F238E27FC236}">
                <a16:creationId xmlns:a16="http://schemas.microsoft.com/office/drawing/2014/main" id="{8A725A2F-358F-46A5-90D7-A16F682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768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有依据的边界</a:t>
            </a:r>
          </a:p>
        </p:txBody>
      </p:sp>
    </p:spTree>
    <p:extLst>
      <p:ext uri="{BB962C8B-B14F-4D97-AF65-F5344CB8AC3E}">
        <p14:creationId xmlns:p14="http://schemas.microsoft.com/office/powerpoint/2010/main" val="947693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研究材料与结论的对应">
            <a:extLst xmlns:a="http://schemas.openxmlformats.org/drawingml/2006/main">
              <a:ext uri="{FF2B5EF4-FFF2-40B4-BE49-F238E27FC236}">
                <a16:creationId xmlns:a16="http://schemas.microsoft.com/office/drawing/2014/main" id="{2FBA3F22-561F-488D-B30B-7222F477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研究材料与结论的对应</a:t>
            </a:r>
          </a:p>
        </p:txBody>
      </p:sp>
      <p:sp>
        <p:nvSpPr>
          <p:cNvPr id="2" name="独立阅读版：保留步骤、来源对象与待补条件">
            <a:extLst xmlns:a="http://schemas.openxmlformats.org/drawingml/2006/main">
              <a:ext uri="{FF2B5EF4-FFF2-40B4-BE49-F238E27FC236}">
                <a16:creationId xmlns:a16="http://schemas.microsoft.com/office/drawing/2014/main" id="{D29B7625-ACC9-4273-A8DF-35772649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独立阅读版：保留步骤、来源对象与待补条件</a:t>
            </a:r>
          </a:p>
        </p:txBody>
      </p:sp>
      <p:sp>
        <p:nvSpPr>
          <p:cNvPr id="3" name="原创教学布局示例 · 非实验结果">
            <a:extLst xmlns:a="http://schemas.openxmlformats.org/drawingml/2006/main">
              <a:ext uri="{FF2B5EF4-FFF2-40B4-BE49-F238E27FC236}">
                <a16:creationId xmlns:a16="http://schemas.microsoft.com/office/drawing/2014/main" id="{22A3CDE6-F568-4B0C-9AC4-86DCA97B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原创教学布局示例 · 非实验结果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B6FBB03D-E9E0-4BEB-AE82-942DB7C2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3A608-AF26-47ED-8A55-74BA5AD8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343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B85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研究材料</a:t>
            </a:r>
          </a:p>
        </p:txBody>
      </p:sp>
      <p:sp>
        <p:nvSpPr>
          <p:cNvPr id="6" name="读全文、核对版本&#10;保留图表与方法条件">
            <a:extLst xmlns:a="http://schemas.openxmlformats.org/drawingml/2006/main">
              <a:ext uri="{FF2B5EF4-FFF2-40B4-BE49-F238E27FC236}">
                <a16:creationId xmlns:a16="http://schemas.microsoft.com/office/drawing/2014/main" id="{3F403EE3-A103-4C56-8693-F7CF65A9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读全文、核对版本</a:t>
            </a:r>
          </a:p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保留图表与方法条件</a:t>
            </a:r>
          </a:p>
        </p:txBody>
      </p:sp>
      <p:sp>
        <p:nvSpPr>
          <p:cNvPr id="7" name="核对：原文、记录、来源">
            <a:extLst xmlns:a="http://schemas.openxmlformats.org/drawingml/2006/main">
              <a:ext uri="{FF2B5EF4-FFF2-40B4-BE49-F238E27FC236}">
                <a16:creationId xmlns:a16="http://schemas.microsoft.com/office/drawing/2014/main" id="{4615D55B-1F9D-423E-8803-2F11157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核对：原文、记录、来源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A3A38-C967-4F6C-A648-5A999B58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71700"/>
            <a:ext cx="4343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96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分析过程</a:t>
            </a:r>
          </a:p>
        </p:txBody>
      </p:sp>
      <p:sp>
        <p:nvSpPr>
          <p:cNvPr id="9" name="连接问题、变量与方法&#10;记录实际操作和参数">
            <a:extLst xmlns:a="http://schemas.openxmlformats.org/drawingml/2006/main">
              <a:ext uri="{FF2B5EF4-FFF2-40B4-BE49-F238E27FC236}">
                <a16:creationId xmlns:a16="http://schemas.microsoft.com/office/drawing/2014/main" id="{4D9F2489-A2AF-4313-956D-EE248912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连接问题、变量与方法</a:t>
            </a:r>
          </a:p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记录实际操作和参数</a:t>
            </a:r>
          </a:p>
        </p:txBody>
      </p:sp>
      <p:sp>
        <p:nvSpPr>
          <p:cNvPr id="10" name="核对：日志、数据、条件">
            <a:extLst xmlns:a="http://schemas.openxmlformats.org/drawingml/2006/main">
              <a:ext uri="{FF2B5EF4-FFF2-40B4-BE49-F238E27FC236}">
                <a16:creationId xmlns:a16="http://schemas.microsoft.com/office/drawing/2014/main" id="{32F459D7-CE95-4DAD-90E4-77014F54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核对：日志、数据、条件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DF7FE-19B9-4E85-A084-02B027B8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1700"/>
            <a:ext cx="4343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54A0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研究结论</a:t>
            </a:r>
          </a:p>
        </p:txBody>
      </p:sp>
      <p:sp>
        <p:nvSpPr>
          <p:cNvPr id="12" name="说明证据和适用范围&#10;标记假设与待验证项">
            <a:extLst xmlns:a="http://schemas.openxmlformats.org/drawingml/2006/main">
              <a:ext uri="{FF2B5EF4-FFF2-40B4-BE49-F238E27FC236}">
                <a16:creationId xmlns:a16="http://schemas.microsoft.com/office/drawing/2014/main" id="{C11B18CA-9854-447B-92C0-0EFEB06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76625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说明证据和适用范围</a:t>
            </a:r>
          </a:p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标记假设与待验证项</a:t>
            </a:r>
          </a:p>
        </p:txBody>
      </p:sp>
      <p:sp>
        <p:nvSpPr>
          <p:cNvPr id="13" name="核对：对照、误差、边界">
            <a:extLst xmlns:a="http://schemas.openxmlformats.org/drawingml/2006/main">
              <a:ext uri="{FF2B5EF4-FFF2-40B4-BE49-F238E27FC236}">
                <a16:creationId xmlns:a16="http://schemas.microsoft.com/office/drawing/2014/main" id="{95812CE0-D2EA-440F-A9F7-154E574E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91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核对：对照、误差、边界</a:t>
            </a:r>
          </a:p>
        </p:txBody>
      </p:sp>
      <p:sp>
        <p:nvSpPr>
          <p:cNvPr id="14" name="待补材料应明确列出；关键定义和实验条件直接留在页面。">
            <a:extLst xmlns:a="http://schemas.openxmlformats.org/drawingml/2006/main">
              <a:ext uri="{FF2B5EF4-FFF2-40B4-BE49-F238E27FC236}">
                <a16:creationId xmlns:a16="http://schemas.microsoft.com/office/drawing/2014/main" id="{3C8FCD47-7E99-485E-BFAC-7044CC58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67550"/>
            <a:ext cx="1343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待补材料应明确列出；关键定义和实验条件直接留在页面。</a:t>
            </a:r>
          </a:p>
        </p:txBody>
      </p:sp>
    </p:spTree>
    <p:extLst>
      <p:ext uri="{BB962C8B-B14F-4D97-AF65-F5344CB8AC3E}">
        <p14:creationId xmlns:p14="http://schemas.microsoft.com/office/powerpoint/2010/main" val="285456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2026-10-10T04:23:28.1400000Z</dcterms:created>
  <dcterms:modified xsi:type="dcterms:W3CDTF">2026-10-10T04:23:28.1400000Z</dcterms:modified>
</coreProperties>
</file>